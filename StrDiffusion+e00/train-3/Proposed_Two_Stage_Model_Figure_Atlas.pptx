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4A25A-B04A-CE54-64CB-1E3788511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DE579B-87E7-2F31-D5F9-38359EF95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9205E-D876-90BE-23B6-BDB0F657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0DCE7-8E1F-8605-02F3-324312BD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58570-4236-6BED-D976-DF8D83CB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5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95822-153F-F0C5-A2F9-B2CA6635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A9CAA-292C-0931-11A6-509EB2E99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73C0D1-A67E-0FCF-B01A-71DE21F5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398D1-5787-87D0-A1A5-9FA6CF25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8C07B-8824-B5EE-6B70-4A4A0E46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78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C8F2F-C42F-CE4C-A858-549150C4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F4B806-1E7B-EEE6-B027-68EDCCA36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0916E-3975-AB24-86FC-3F7B661F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79EC7D-EEA8-FE14-D389-9EA71C743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38F253-5E4D-428F-2B7B-E2F86B22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99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9924D-A37C-5C2C-A58C-F5B28011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91309-1798-823A-4BF4-8474FE962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7AE4BC-2BA9-2887-DDBE-5893B67B0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64F47B-69A0-7479-D060-5DF14F5A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5071E7-B980-96D5-57DA-71F3502C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5E1ED-7784-3496-2319-6C60971E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52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FEF6C-EE90-45DE-0CE9-9442996B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87DE91-BBFB-5265-FC2F-8340A3D14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47519A-A1B7-AA4E-3F69-40FEC1232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2D1B53-3810-10A6-494B-0DBB977C9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13530D-87AF-1BED-A9A0-1B5799C40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4B443C-02B8-7FB5-E523-AE0A800E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E0D004-74E9-EFA4-F4E9-9B587091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583778-A502-FCBB-8319-FE962810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6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A9A37-25CF-6CEF-C96F-C0DA5A8E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F7556B-4A28-E7E8-7C5C-F2C741C6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CA72F3-F02C-AC1A-0454-0072474E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24C3DE-A8D3-A0C3-F244-5216E75D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39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FA1D91-77E6-A870-274E-F17C2F24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720034-A43B-DFAF-ADCC-FA04FF39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C0E304-ACAF-E6D3-5498-1FCB9450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40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968E4-62E4-E26B-115B-4359DE84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878BA1-46C1-5806-4A93-BF40CD66C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2C005D-785B-2935-D1A8-9FA256F8C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18D99E-4573-0B89-5630-D06EFF76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40CAF3-C2E8-B912-EE4E-54A09CD8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B78EF-05A8-C685-C446-07C4C97F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68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64CCF-2DA5-555F-2E11-4F6ECC1B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F51979-0780-3B62-D235-EDF116AC4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DFE1E2-5A94-AC54-205F-0C396A9A8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1DBF0-2C4F-201F-13FC-31B56DE4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F197C-8D9F-FF5C-3C48-B2890EC3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07F734-AF52-24B7-E4DF-8F8D5E00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71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A4B33-69D0-E91C-41D3-BB78A013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A7AC24-DE4E-0495-F6C0-76501AD1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37E77E-35D2-64A7-A6BD-AFAE9382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A77B24-D88F-EF47-7425-6BCA5870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CCD948-243E-7D3E-E7C7-78ED62B9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83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26FF59-2171-393F-58FC-EF2FBA51E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1AAF93-EF75-22B4-A54B-6861868A2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037F0E-A50B-CF08-320E-E39AC469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733288-B9E2-1C7E-38C3-9B7BF19B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22F7CB-9D67-58D9-D018-23F87011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809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A15A2C-EA72-30D4-4A10-D437CDD9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B63353-3A18-9735-2D0E-377A5F82B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83649C-D883-3623-80D8-F5016B916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8488E-B238-4F65-89D6-82F49788C51A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627A5-9FE2-3E28-B06B-0907C747F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51B2AB-4FFC-2612-C71A-D8916160B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7EE79-C15C-4E28-83AD-D6DEC3413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41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D7F3CA-FE71-403D-3F3D-C1206A218E5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6F773B1-1A76-471C-4C10-847F63BBFB11}"/>
              </a:ext>
            </a:extLst>
          </p:cNvPr>
          <p:cNvSpPr/>
          <p:nvPr/>
        </p:nvSpPr>
        <p:spPr>
          <a:xfrm>
            <a:off x="640080" y="1005840"/>
            <a:ext cx="10881360" cy="4389120"/>
          </a:xfrm>
          <a:prstGeom prst="roundRect">
            <a:avLst/>
          </a:prstGeom>
          <a:solidFill>
            <a:srgbClr val="EEF2F7"/>
          </a:solidFill>
          <a:ln w="2032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2FD34C-E7FF-89DD-AFF3-7F83BACACA30}"/>
              </a:ext>
            </a:extLst>
          </p:cNvPr>
          <p:cNvSpPr txBox="1"/>
          <p:nvPr/>
        </p:nvSpPr>
        <p:spPr>
          <a:xfrm>
            <a:off x="960120" y="1463040"/>
            <a:ext cx="9966960" cy="523220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800" b="1">
                <a:solidFill>
                  <a:srgbClr val="26323E"/>
                </a:solidFill>
                <a:latin typeface="Aptos" panose="020B0004020202020204" pitchFamily="34" charset="0"/>
              </a:rPr>
              <a:t>Two-Stage Model Figure Atlas</a:t>
            </a:r>
            <a:endParaRPr lang="zh-CN" altLang="en-US" sz="28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003B91-A15A-5474-8622-DFE228EB34FD}"/>
              </a:ext>
            </a:extLst>
          </p:cNvPr>
          <p:cNvSpPr txBox="1"/>
          <p:nvPr/>
        </p:nvSpPr>
        <p:spPr>
          <a:xfrm>
            <a:off x="960120" y="2084832"/>
            <a:ext cx="9966960" cy="353943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>
                <a:solidFill>
                  <a:srgbClr val="55606B"/>
                </a:solidFill>
                <a:latin typeface="Aptos" panose="020B0004020202020204" pitchFamily="34" charset="0"/>
              </a:rPr>
              <a:t>From SSD-TS Pigment Restoration to Prior-Guided StrDiffusion Inpainting</a:t>
            </a:r>
            <a:endParaRPr lang="zh-CN" altLang="en-US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DD0395D-D13B-C847-266C-33E4760D1A69}"/>
              </a:ext>
            </a:extLst>
          </p:cNvPr>
          <p:cNvSpPr/>
          <p:nvPr/>
        </p:nvSpPr>
        <p:spPr>
          <a:xfrm>
            <a:off x="1005840" y="2788920"/>
            <a:ext cx="3383280" cy="50292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Stage I: Pigment Restoration Prior Stage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53899A8-B419-1C70-65C4-F083222A4139}"/>
              </a:ext>
            </a:extLst>
          </p:cNvPr>
          <p:cNvSpPr/>
          <p:nvPr/>
        </p:nvSpPr>
        <p:spPr>
          <a:xfrm>
            <a:off x="4553712" y="2788920"/>
            <a:ext cx="3794760" cy="50292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Stage II: Prior-Guided Mural Inpainting Stage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E1DDDF6-5609-4B49-696A-8554340B30C6}"/>
              </a:ext>
            </a:extLst>
          </p:cNvPr>
          <p:cNvSpPr/>
          <p:nvPr/>
        </p:nvSpPr>
        <p:spPr>
          <a:xfrm>
            <a:off x="8558784" y="2788920"/>
            <a:ext cx="1874520" cy="50292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PPT Draft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FD75C6-EF92-92B4-2D01-8E8E92796691}"/>
              </a:ext>
            </a:extLst>
          </p:cNvPr>
          <p:cNvSpPr txBox="1"/>
          <p:nvPr/>
        </p:nvSpPr>
        <p:spPr>
          <a:xfrm>
            <a:off x="1024128" y="3611880"/>
            <a:ext cx="8595360" cy="892552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300">
                <a:solidFill>
                  <a:srgbClr val="26323E"/>
                </a:solidFill>
                <a:latin typeface="Aptos" panose="020B0004020202020204" pitchFamily="34" charset="0"/>
              </a:rPr>
              <a:t>- structure-first figure drafting</a:t>
            </a:r>
          </a:p>
          <a:p>
            <a:r>
              <a:rPr lang="en-US" altLang="zh-CN" sz="1300">
                <a:solidFill>
                  <a:srgbClr val="26323E"/>
                </a:solidFill>
                <a:latin typeface="Aptos" panose="020B0004020202020204" pitchFamily="34" charset="0"/>
              </a:rPr>
              <a:t>- paper-ready English labels</a:t>
            </a:r>
          </a:p>
          <a:p>
            <a:r>
              <a:rPr lang="en-US" altLang="zh-CN" sz="1300">
                <a:solidFill>
                  <a:srgbClr val="26323E"/>
                </a:solidFill>
                <a:latin typeface="Aptos" panose="020B0004020202020204" pitchFamily="34" charset="0"/>
              </a:rPr>
              <a:t>- top-conference layout placeholders</a:t>
            </a:r>
          </a:p>
          <a:p>
            <a:r>
              <a:rPr lang="en-US" altLang="zh-CN" sz="1300">
                <a:solidFill>
                  <a:srgbClr val="26323E"/>
                </a:solidFill>
                <a:latin typeface="Aptos" panose="020B0004020202020204" pitchFamily="34" charset="0"/>
              </a:rPr>
              <a:t>- core active-path modules only</a:t>
            </a:r>
            <a:endParaRPr lang="zh-CN" altLang="en-US" sz="13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0FCA29-BABE-A187-F75B-422EA25502B9}"/>
              </a:ext>
            </a:extLst>
          </p:cNvPr>
          <p:cNvSpPr txBox="1"/>
          <p:nvPr/>
        </p:nvSpPr>
        <p:spPr>
          <a:xfrm>
            <a:off x="960120" y="5715000"/>
            <a:ext cx="5943600" cy="246221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100">
                <a:solidFill>
                  <a:srgbClr val="55606B"/>
                </a:solidFill>
                <a:latin typeface="Aptos" panose="020B0004020202020204" pitchFamily="34" charset="0"/>
              </a:rPr>
              <a:t>Generated from real code paths and atlas specifications</a:t>
            </a:r>
            <a:endParaRPr lang="zh-CN" altLang="en-US" sz="1100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65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FEAF60-5DDC-C99C-FFB6-264F0E51A963}"/>
              </a:ext>
            </a:extLst>
          </p:cNvPr>
          <p:cNvSpPr txBox="1"/>
          <p:nvPr/>
        </p:nvSpPr>
        <p:spPr>
          <a:xfrm>
            <a:off x="502920" y="164592"/>
            <a:ext cx="8595360" cy="83099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Overall Pipeline of the Proposed Two-Stage Restoration Framework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2FF2EF-6C36-657F-BB07-7F57AABA944D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32E32D-74E0-E9E7-A88A-33372EC863E3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3F23C2E-52E1-838D-1EF3-C0C0C948B3A9}"/>
              </a:ext>
            </a:extLst>
          </p:cNvPr>
          <p:cNvSpPr/>
          <p:nvPr/>
        </p:nvSpPr>
        <p:spPr>
          <a:xfrm>
            <a:off x="502920" y="841248"/>
            <a:ext cx="4800600" cy="452628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2CCC08-DEE7-0C94-A667-8B09147E91D7}"/>
              </a:ext>
            </a:extLst>
          </p:cNvPr>
          <p:cNvSpPr txBox="1"/>
          <p:nvPr/>
        </p:nvSpPr>
        <p:spPr>
          <a:xfrm>
            <a:off x="667512" y="914400"/>
            <a:ext cx="452628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(A) Stage I: Pigment Restoration Prior Stage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9ACB6F2-95FE-DC21-053E-CD182FF840CD}"/>
              </a:ext>
            </a:extLst>
          </p:cNvPr>
          <p:cNvSpPr/>
          <p:nvPr/>
        </p:nvSpPr>
        <p:spPr>
          <a:xfrm>
            <a:off x="6510528" y="841248"/>
            <a:ext cx="5166360" cy="452628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2EBAB2-AC7D-5480-C45B-4E1486E4D751}"/>
              </a:ext>
            </a:extLst>
          </p:cNvPr>
          <p:cNvSpPr txBox="1"/>
          <p:nvPr/>
        </p:nvSpPr>
        <p:spPr>
          <a:xfrm>
            <a:off x="6675120" y="914400"/>
            <a:ext cx="489204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(B) Stage II: Prior-Guided Mural Inpainting Stage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62DD1B1-BA00-4883-01D0-82453CD6DD26}"/>
              </a:ext>
            </a:extLst>
          </p:cNvPr>
          <p:cNvSpPr/>
          <p:nvPr/>
        </p:nvSpPr>
        <p:spPr>
          <a:xfrm>
            <a:off x="822960" y="1965960"/>
            <a:ext cx="868680" cy="73152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>
                <a:solidFill>
                  <a:srgbClr val="26323E"/>
                </a:solidFill>
                <a:latin typeface="Aptos" panose="020B0004020202020204" pitchFamily="34" charset="0"/>
              </a:rPr>
              <a:t>Pigment Sample Placeholder</a:t>
            </a:r>
            <a:endParaRPr lang="zh-CN" altLang="en-US" sz="95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B7DA1FA-9407-C40A-25A8-FC4777EDF346}"/>
              </a:ext>
            </a:extLst>
          </p:cNvPr>
          <p:cNvSpPr/>
          <p:nvPr/>
        </p:nvSpPr>
        <p:spPr>
          <a:xfrm>
            <a:off x="1920240" y="1920240"/>
            <a:ext cx="1051560" cy="82296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20" b="1">
                <a:solidFill>
                  <a:srgbClr val="26323E"/>
                </a:solidFill>
                <a:latin typeface="Aptos" panose="020B0004020202020204" pitchFamily="34" charset="0"/>
              </a:rPr>
              <a:t>RGB-Only Spectral Bridge</a:t>
            </a:r>
            <a:endParaRPr lang="zh-CN" altLang="en-US" sz="11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96A059C-0285-3AB4-1F27-B074D5DDF2F3}"/>
              </a:ext>
            </a:extLst>
          </p:cNvPr>
          <p:cNvSpPr/>
          <p:nvPr/>
        </p:nvSpPr>
        <p:spPr>
          <a:xfrm>
            <a:off x="3291840" y="1920240"/>
            <a:ext cx="1143000" cy="82296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30" b="1">
                <a:solidFill>
                  <a:srgbClr val="26323E"/>
                </a:solidFill>
                <a:latin typeface="Aptos" panose="020B0004020202020204" pitchFamily="34" charset="0"/>
              </a:rPr>
              <a:t>Conditional Pigment Diffusion Denoiser</a:t>
            </a:r>
            <a:endParaRPr lang="zh-CN" altLang="en-US" sz="103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C2F1332-1BB9-5CA6-01CA-D9FC560E62AD}"/>
              </a:ext>
            </a:extLst>
          </p:cNvPr>
          <p:cNvSpPr/>
          <p:nvPr/>
        </p:nvSpPr>
        <p:spPr>
          <a:xfrm>
            <a:off x="3840480" y="1143000"/>
            <a:ext cx="1097280" cy="566928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30">
                <a:solidFill>
                  <a:srgbClr val="26323E"/>
                </a:solidFill>
                <a:latin typeface="Aptos" panose="020B0004020202020204" pitchFamily="34" charset="0"/>
              </a:rPr>
              <a:t>Multimodal Teacher Conditioning</a:t>
            </a:r>
            <a:endParaRPr lang="zh-CN" altLang="en-US" sz="93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4CB7985-7B2C-9AFE-133F-7709982DB2D8}"/>
              </a:ext>
            </a:extLst>
          </p:cNvPr>
          <p:cNvSpPr/>
          <p:nvPr/>
        </p:nvSpPr>
        <p:spPr>
          <a:xfrm>
            <a:off x="3703320" y="3063240"/>
            <a:ext cx="1097280" cy="73152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30" b="1">
                <a:solidFill>
                  <a:srgbClr val="26323E"/>
                </a:solidFill>
                <a:latin typeface="Aptos" panose="020B0004020202020204" pitchFamily="34" charset="0"/>
              </a:rPr>
              <a:t>3D Pigment LUT Builder</a:t>
            </a:r>
            <a:endParaRPr lang="zh-CN" altLang="en-US" sz="103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A2EDB5-21B8-D11A-D8F3-4D6C7F3062B7}"/>
              </a:ext>
            </a:extLst>
          </p:cNvPr>
          <p:cNvCxnSpPr/>
          <p:nvPr/>
        </p:nvCxnSpPr>
        <p:spPr>
          <a:xfrm>
            <a:off x="1691640" y="2331720"/>
            <a:ext cx="22860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2EFDF67-3D7E-E2F0-2EBA-918EFD5FF68A}"/>
              </a:ext>
            </a:extLst>
          </p:cNvPr>
          <p:cNvCxnSpPr/>
          <p:nvPr/>
        </p:nvCxnSpPr>
        <p:spPr>
          <a:xfrm>
            <a:off x="2971800" y="2331720"/>
            <a:ext cx="32004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FE279A8-55CC-1874-D859-020BFFB2E310}"/>
              </a:ext>
            </a:extLst>
          </p:cNvPr>
          <p:cNvCxnSpPr/>
          <p:nvPr/>
        </p:nvCxnSpPr>
        <p:spPr>
          <a:xfrm>
            <a:off x="3886200" y="1709928"/>
            <a:ext cx="0" cy="228600"/>
          </a:xfrm>
          <a:prstGeom prst="straightConnector1">
            <a:avLst/>
          </a:prstGeom>
          <a:ln w="22860">
            <a:solidFill>
              <a:srgbClr val="A5ABB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6E5CD79-7FEC-395A-4281-8A6F1D021347}"/>
              </a:ext>
            </a:extLst>
          </p:cNvPr>
          <p:cNvCxnSpPr/>
          <p:nvPr/>
        </p:nvCxnSpPr>
        <p:spPr>
          <a:xfrm>
            <a:off x="3886200" y="2743200"/>
            <a:ext cx="0" cy="32004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58D495D-8AB2-B724-F82A-E7802328EF1A}"/>
              </a:ext>
            </a:extLst>
          </p:cNvPr>
          <p:cNvSpPr/>
          <p:nvPr/>
        </p:nvSpPr>
        <p:spPr>
          <a:xfrm rot="5400000">
            <a:off x="5440680" y="2331720"/>
            <a:ext cx="868680" cy="1005840"/>
          </a:xfrm>
          <a:prstGeom prst="roundRect">
            <a:avLst/>
          </a:prstGeom>
          <a:solidFill>
            <a:srgbClr val="F7E6B8"/>
          </a:solidFill>
          <a:ln w="19050">
            <a:solidFill>
              <a:srgbClr val="D9A4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00" b="1">
                <a:solidFill>
                  <a:srgbClr val="26323E"/>
                </a:solidFill>
                <a:latin typeface="Aptos" panose="020B0004020202020204" pitchFamily="34" charset="0"/>
              </a:rPr>
              <a:t>Pigment LUT / LUT-based Color Knowledge</a:t>
            </a:r>
            <a:endParaRPr lang="zh-CN" altLang="en-US" sz="10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8A00603-EE55-3933-F007-E071F08645CD}"/>
              </a:ext>
            </a:extLst>
          </p:cNvPr>
          <p:cNvSpPr/>
          <p:nvPr/>
        </p:nvSpPr>
        <p:spPr>
          <a:xfrm>
            <a:off x="6812280" y="1920240"/>
            <a:ext cx="868681" cy="749808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>
                <a:solidFill>
                  <a:srgbClr val="26323E"/>
                </a:solidFill>
                <a:latin typeface="Aptos" panose="020B0004020202020204" pitchFamily="34" charset="0"/>
              </a:rPr>
              <a:t>Mural Input Placeholder</a:t>
            </a:r>
            <a:endParaRPr lang="zh-CN" altLang="en-US" sz="95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1698151-CECF-FEBB-B686-8CBABB8214AE}"/>
              </a:ext>
            </a:extLst>
          </p:cNvPr>
          <p:cNvSpPr/>
          <p:nvPr/>
        </p:nvSpPr>
        <p:spPr>
          <a:xfrm>
            <a:off x="7955280" y="1554480"/>
            <a:ext cx="1005840" cy="658368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Hole Mask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13C1D40-E893-6561-B540-1AB04A13EE5F}"/>
              </a:ext>
            </a:extLst>
          </p:cNvPr>
          <p:cNvSpPr/>
          <p:nvPr/>
        </p:nvSpPr>
        <p:spPr>
          <a:xfrm>
            <a:off x="8046720" y="2514600"/>
            <a:ext cx="1143000" cy="74980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LUT Prior Composer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17B1300-9FAE-2F23-A591-78E570FD7119}"/>
              </a:ext>
            </a:extLst>
          </p:cNvPr>
          <p:cNvSpPr/>
          <p:nvPr/>
        </p:nvSpPr>
        <p:spPr>
          <a:xfrm>
            <a:off x="9372600" y="1554480"/>
            <a:ext cx="960120" cy="65836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80" b="1">
                <a:solidFill>
                  <a:srgbClr val="26323E"/>
                </a:solidFill>
                <a:latin typeface="Aptos" panose="020B0004020202020204" pitchFamily="34" charset="0"/>
              </a:rPr>
              <a:t>Mu Cleaner</a:t>
            </a:r>
            <a:endParaRPr lang="zh-CN" altLang="en-US" sz="10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843592A-F6DD-FC28-62E5-7AA8E2A0187B}"/>
              </a:ext>
            </a:extLst>
          </p:cNvPr>
          <p:cNvSpPr/>
          <p:nvPr/>
        </p:nvSpPr>
        <p:spPr>
          <a:xfrm>
            <a:off x="9326880" y="2514600"/>
            <a:ext cx="1417320" cy="841248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Prior-Guided Texture U-Net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8F4A1EF-2BA9-781B-AAD5-347724EA8D1F}"/>
              </a:ext>
            </a:extLst>
          </p:cNvPr>
          <p:cNvSpPr/>
          <p:nvPr/>
        </p:nvSpPr>
        <p:spPr>
          <a:xfrm>
            <a:off x="10972800" y="2286000"/>
            <a:ext cx="502920" cy="123444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860" b="1">
                <a:solidFill>
                  <a:srgbClr val="26323E"/>
                </a:solidFill>
                <a:latin typeface="Aptos" panose="020B0004020202020204" pitchFamily="34" charset="0"/>
              </a:rPr>
              <a:t>Official-Compatible Enhanced Reverse SDE</a:t>
            </a:r>
            <a:endParaRPr lang="zh-CN" altLang="en-US" sz="86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2E2889F-1D35-414D-F10B-0322D274EDC4}"/>
              </a:ext>
            </a:extLst>
          </p:cNvPr>
          <p:cNvSpPr/>
          <p:nvPr/>
        </p:nvSpPr>
        <p:spPr>
          <a:xfrm>
            <a:off x="10789920" y="3886200"/>
            <a:ext cx="685800" cy="713232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880">
                <a:solidFill>
                  <a:srgbClr val="26323E"/>
                </a:solidFill>
                <a:latin typeface="Aptos" panose="020B0004020202020204" pitchFamily="34" charset="0"/>
              </a:rPr>
              <a:t>Final Restoration Placeholder</a:t>
            </a:r>
            <a:endParaRPr lang="zh-CN" altLang="en-US" sz="8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50ED5E2-5A82-93DE-9BA1-32E11E63E609}"/>
              </a:ext>
            </a:extLst>
          </p:cNvPr>
          <p:cNvCxnSpPr/>
          <p:nvPr/>
        </p:nvCxnSpPr>
        <p:spPr>
          <a:xfrm>
            <a:off x="7680960" y="2286000"/>
            <a:ext cx="365760" cy="50292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88AB7BE-924C-C7A7-F574-1B4A4A0D2C0E}"/>
              </a:ext>
            </a:extLst>
          </p:cNvPr>
          <p:cNvCxnSpPr/>
          <p:nvPr/>
        </p:nvCxnSpPr>
        <p:spPr>
          <a:xfrm>
            <a:off x="8458200" y="2212848"/>
            <a:ext cx="0" cy="301752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A009EAF-D689-EB15-C23C-917DE180893D}"/>
              </a:ext>
            </a:extLst>
          </p:cNvPr>
          <p:cNvCxnSpPr/>
          <p:nvPr/>
        </p:nvCxnSpPr>
        <p:spPr>
          <a:xfrm>
            <a:off x="9189720" y="2880360"/>
            <a:ext cx="13716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EA0BE6B-2AFC-5F22-5BF1-0D00F29AA352}"/>
              </a:ext>
            </a:extLst>
          </p:cNvPr>
          <p:cNvCxnSpPr/>
          <p:nvPr/>
        </p:nvCxnSpPr>
        <p:spPr>
          <a:xfrm>
            <a:off x="10744200" y="2834640"/>
            <a:ext cx="22860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FEEF113-4470-DF10-4945-FAB21EC5D4E5}"/>
              </a:ext>
            </a:extLst>
          </p:cNvPr>
          <p:cNvCxnSpPr/>
          <p:nvPr/>
        </p:nvCxnSpPr>
        <p:spPr>
          <a:xfrm flipH="1">
            <a:off x="11137392" y="3520440"/>
            <a:ext cx="64008" cy="36576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3B28FEB-F238-D100-1A64-E08A3F521082}"/>
              </a:ext>
            </a:extLst>
          </p:cNvPr>
          <p:cNvSpPr/>
          <p:nvPr/>
        </p:nvSpPr>
        <p:spPr>
          <a:xfrm>
            <a:off x="640080" y="5532120"/>
            <a:ext cx="4572000" cy="6400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50">
                <a:solidFill>
                  <a:srgbClr val="26323E"/>
                </a:solidFill>
                <a:latin typeface="Aptos" panose="020B0004020202020204" pitchFamily="34" charset="0"/>
              </a:rPr>
              <a:t>Stage I detail: RGB-only bridge and LUT construction</a:t>
            </a:r>
            <a:endParaRPr lang="zh-CN" altLang="en-US" sz="105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162DB77-0A4D-7CE3-8EE6-4FD79A602FE8}"/>
              </a:ext>
            </a:extLst>
          </p:cNvPr>
          <p:cNvSpPr/>
          <p:nvPr/>
        </p:nvSpPr>
        <p:spPr>
          <a:xfrm>
            <a:off x="6629400" y="5532120"/>
            <a:ext cx="4754880" cy="6400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50">
                <a:solidFill>
                  <a:srgbClr val="26323E"/>
                </a:solidFill>
                <a:latin typeface="Aptos" panose="020B0004020202020204" pitchFamily="34" charset="0"/>
              </a:rPr>
              <a:t>Stage II detail: prior injection, MGLC, and enhanced reverse SDE</a:t>
            </a:r>
            <a:endParaRPr lang="zh-CN" altLang="en-US" sz="105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08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DE9454-9FAD-BB64-218E-B61CDF8F9001}"/>
              </a:ext>
            </a:extLst>
          </p:cNvPr>
          <p:cNvSpPr txBox="1"/>
          <p:nvPr/>
        </p:nvSpPr>
        <p:spPr>
          <a:xfrm>
            <a:off x="502920" y="164592"/>
            <a:ext cx="8595360" cy="83099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Dual-Baseline Reference Map: From SSD-TS and StrDiffusion to Our Full System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014B4F-D0C2-1153-56E4-975D9FE79AC5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Fig.2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C977AB-C1BB-09D0-B5A4-74F880447E98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3D3001C-CB92-6316-1CA3-8FAA9C4C17AD}"/>
              </a:ext>
            </a:extLst>
          </p:cNvPr>
          <p:cNvSpPr/>
          <p:nvPr/>
        </p:nvSpPr>
        <p:spPr>
          <a:xfrm>
            <a:off x="548640" y="914400"/>
            <a:ext cx="3246120" cy="443484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3A5600-4D68-7217-CDC2-DB36BD54E9DB}"/>
              </a:ext>
            </a:extLst>
          </p:cNvPr>
          <p:cNvSpPr txBox="1"/>
          <p:nvPr/>
        </p:nvSpPr>
        <p:spPr>
          <a:xfrm>
            <a:off x="713232" y="987552"/>
            <a:ext cx="297180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(A) SSD-TS Baseline Skeleton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173D2B-D46F-880C-DFBA-2E42E5BC84F6}"/>
              </a:ext>
            </a:extLst>
          </p:cNvPr>
          <p:cNvSpPr/>
          <p:nvPr/>
        </p:nvSpPr>
        <p:spPr>
          <a:xfrm>
            <a:off x="4160520" y="914400"/>
            <a:ext cx="3794760" cy="4434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DE7AA4-E75B-FCE0-F04C-85243CC3CDDE}"/>
              </a:ext>
            </a:extLst>
          </p:cNvPr>
          <p:cNvSpPr txBox="1"/>
          <p:nvPr/>
        </p:nvSpPr>
        <p:spPr>
          <a:xfrm>
            <a:off x="4325112" y="987552"/>
            <a:ext cx="352044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(B) Our Added Modules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805BC50-4784-C400-7D52-DC13D51E0C79}"/>
              </a:ext>
            </a:extLst>
          </p:cNvPr>
          <p:cNvSpPr/>
          <p:nvPr/>
        </p:nvSpPr>
        <p:spPr>
          <a:xfrm>
            <a:off x="8321040" y="914400"/>
            <a:ext cx="3291840" cy="443484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9064B3-42DC-2FB7-BA43-CA843C57343F}"/>
              </a:ext>
            </a:extLst>
          </p:cNvPr>
          <p:cNvSpPr txBox="1"/>
          <p:nvPr/>
        </p:nvSpPr>
        <p:spPr>
          <a:xfrm>
            <a:off x="8485632" y="987552"/>
            <a:ext cx="301752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(C) StrDiffusion Baseline Skeleton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2AF059-2A3F-EF25-1918-9B0CC1E4BC11}"/>
              </a:ext>
            </a:extLst>
          </p:cNvPr>
          <p:cNvSpPr txBox="1"/>
          <p:nvPr/>
        </p:nvSpPr>
        <p:spPr>
          <a:xfrm>
            <a:off x="822960" y="1554480"/>
            <a:ext cx="2651760" cy="938719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generic conditional diffusion backbone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short-sequence denoiser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basic condition injection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no prototype bank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no LUT builder</a:t>
            </a:r>
            <a:endParaRPr lang="zh-CN" altLang="en-US" sz="11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84DC3B-D3D3-EEDC-B1FC-2783A8C69AB9}"/>
              </a:ext>
            </a:extLst>
          </p:cNvPr>
          <p:cNvSpPr/>
          <p:nvPr/>
        </p:nvSpPr>
        <p:spPr>
          <a:xfrm>
            <a:off x="4526280" y="1481328"/>
            <a:ext cx="2926080" cy="47548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Stage I Additions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D51CD0-6BFA-A894-EC8F-225F7772E45C}"/>
              </a:ext>
            </a:extLst>
          </p:cNvPr>
          <p:cNvSpPr txBox="1"/>
          <p:nvPr/>
        </p:nvSpPr>
        <p:spPr>
          <a:xfrm>
            <a:off x="4526280" y="2011680"/>
            <a:ext cx="2971800" cy="1089529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Color Evidence Encoder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Pseudo-Spectrum Predictor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Prototype Posterior Estimator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Spectral Prototype Bank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Retrieval Branch and Confidence Gate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- 3D Pigment LUT Builder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ADB7CBC-AFB3-7400-AB5F-45DF91DBCDFD}"/>
              </a:ext>
            </a:extLst>
          </p:cNvPr>
          <p:cNvSpPr/>
          <p:nvPr/>
        </p:nvSpPr>
        <p:spPr>
          <a:xfrm>
            <a:off x="4526280" y="3657600"/>
            <a:ext cx="2926080" cy="47548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Stage II Additions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C7CC9D-A89A-41AA-E9CE-59B903E59B5C}"/>
              </a:ext>
            </a:extLst>
          </p:cNvPr>
          <p:cNvSpPr txBox="1"/>
          <p:nvPr/>
        </p:nvSpPr>
        <p:spPr>
          <a:xfrm>
            <a:off x="4526280" y="4187952"/>
            <a:ext cx="2971800" cy="923330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LUT Prior Composer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Pixel Condition Encoder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MGLC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Mu Cleaner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Enhanced reverse SDE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DE4C0C-3FFE-5FA7-14EF-928282DF3C1B}"/>
              </a:ext>
            </a:extLst>
          </p:cNvPr>
          <p:cNvSpPr txBox="1"/>
          <p:nvPr/>
        </p:nvSpPr>
        <p:spPr>
          <a:xfrm>
            <a:off x="8613648" y="1554480"/>
            <a:ext cx="2697480" cy="938719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Conditional UNet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structure branch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discriminator branch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reverse SDE</a:t>
            </a:r>
          </a:p>
          <a:p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- official inference skeleton</a:t>
            </a:r>
            <a:endParaRPr lang="zh-CN" altLang="en-US" sz="11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92D4BD9-6972-D21C-6458-14BE6D5EB890}"/>
              </a:ext>
            </a:extLst>
          </p:cNvPr>
          <p:cNvSpPr/>
          <p:nvPr/>
        </p:nvSpPr>
        <p:spPr>
          <a:xfrm>
            <a:off x="640080" y="5486400"/>
            <a:ext cx="11064240" cy="566928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40">
                <a:solidFill>
                  <a:srgbClr val="26323E"/>
                </a:solidFill>
                <a:latin typeface="Aptos" panose="020B0004020202020204" pitchFamily="34" charset="0"/>
              </a:rPr>
              <a:t>Baseline panels remain blue-gray; all proposed modules are highlighted in orange as additive upgrades rather than backbone replacement.</a:t>
            </a:r>
            <a:endParaRPr lang="zh-CN" altLang="en-US" sz="104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65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F8CC2D-FC5B-E1AE-FB61-33C757336312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RGB-Only Spectral Bridge for Pseudo Spectral Conditioning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889469-FA01-975B-BA46-F39879070E28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Fig.6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04CB8E-CA2F-EEDE-BB9C-6DF64830E16A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E485AF1-D125-D48F-A86D-34840E6861D3}"/>
              </a:ext>
            </a:extLst>
          </p:cNvPr>
          <p:cNvSpPr/>
          <p:nvPr/>
        </p:nvSpPr>
        <p:spPr>
          <a:xfrm>
            <a:off x="566928" y="2212848"/>
            <a:ext cx="1051560" cy="96012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40">
                <a:solidFill>
                  <a:srgbClr val="26323E"/>
                </a:solidFill>
                <a:latin typeface="Aptos" panose="020B0004020202020204" pitchFamily="34" charset="0"/>
              </a:rPr>
              <a:t>Input RGB Placeholder</a:t>
            </a:r>
            <a:endParaRPr lang="zh-CN" altLang="en-US" sz="94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00B3974-3589-FB75-17A5-F3079A20175D}"/>
              </a:ext>
            </a:extLst>
          </p:cNvPr>
          <p:cNvSpPr/>
          <p:nvPr/>
        </p:nvSpPr>
        <p:spPr>
          <a:xfrm>
            <a:off x="1783080" y="2148840"/>
            <a:ext cx="1417320" cy="102412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90" b="1">
                <a:solidFill>
                  <a:srgbClr val="26323E"/>
                </a:solidFill>
                <a:latin typeface="Aptos" panose="020B0004020202020204" pitchFamily="34" charset="0"/>
              </a:rPr>
              <a:t>Color Evidence Encoder</a:t>
            </a:r>
            <a:endParaRPr lang="zh-CN" altLang="en-US" sz="109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D193D85-91C9-0DA8-A5F9-5C2E865F5CD1}"/>
              </a:ext>
            </a:extLst>
          </p:cNvPr>
          <p:cNvSpPr/>
          <p:nvPr/>
        </p:nvSpPr>
        <p:spPr>
          <a:xfrm>
            <a:off x="3493008" y="1417320"/>
            <a:ext cx="1645920" cy="86868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60" b="1">
                <a:solidFill>
                  <a:srgbClr val="26323E"/>
                </a:solidFill>
                <a:latin typeface="Aptos" panose="020B0004020202020204" pitchFamily="34" charset="0"/>
              </a:rPr>
              <a:t>Pseudo-Spectrum Predictor</a:t>
            </a:r>
            <a:endParaRPr lang="zh-CN" altLang="en-US" sz="106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BB83F74-66A0-5E9D-3C6D-D3A5A4727592}"/>
              </a:ext>
            </a:extLst>
          </p:cNvPr>
          <p:cNvSpPr/>
          <p:nvPr/>
        </p:nvSpPr>
        <p:spPr>
          <a:xfrm>
            <a:off x="3493008" y="3063240"/>
            <a:ext cx="1645920" cy="86868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40" b="1">
                <a:solidFill>
                  <a:srgbClr val="26323E"/>
                </a:solidFill>
                <a:latin typeface="Aptos" panose="020B0004020202020204" pitchFamily="34" charset="0"/>
              </a:rPr>
              <a:t>Prototype Posterior Estimator</a:t>
            </a:r>
            <a:endParaRPr lang="zh-CN" altLang="en-US" sz="104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717699E-C63A-E3DB-7A99-CD0007735949}"/>
              </a:ext>
            </a:extLst>
          </p:cNvPr>
          <p:cNvSpPr/>
          <p:nvPr/>
        </p:nvSpPr>
        <p:spPr>
          <a:xfrm>
            <a:off x="5486400" y="868680"/>
            <a:ext cx="1508760" cy="114300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>
                <a:solidFill>
                  <a:srgbClr val="26323E"/>
                </a:solidFill>
                <a:latin typeface="Aptos" panose="020B0004020202020204" pitchFamily="34" charset="0"/>
              </a:rPr>
              <a:t>Prototype Bank Placeholder</a:t>
            </a:r>
            <a:endParaRPr lang="zh-CN" altLang="en-US" sz="95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CF3382-6B42-7C02-11AC-6DAF6CDEF3D5}"/>
              </a:ext>
            </a:extLst>
          </p:cNvPr>
          <p:cNvSpPr txBox="1"/>
          <p:nvPr/>
        </p:nvSpPr>
        <p:spPr>
          <a:xfrm>
            <a:off x="5577840" y="640080"/>
            <a:ext cx="1463040" cy="41549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Spectral Prototype Bank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82FCE1-52A6-D2C8-1EEC-B0FB48209FF1}"/>
              </a:ext>
            </a:extLst>
          </p:cNvPr>
          <p:cNvSpPr/>
          <p:nvPr/>
        </p:nvSpPr>
        <p:spPr>
          <a:xfrm>
            <a:off x="5532120" y="2057400"/>
            <a:ext cx="1417320" cy="86868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70" b="1">
                <a:solidFill>
                  <a:srgbClr val="26323E"/>
                </a:solidFill>
                <a:latin typeface="Aptos" panose="020B0004020202020204" pitchFamily="34" charset="0"/>
              </a:rPr>
              <a:t>Retrieval Branch</a:t>
            </a:r>
            <a:endParaRPr lang="zh-CN" altLang="en-US" sz="107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A0BEA2D-A88C-7657-EB8B-FD228468E9F3}"/>
              </a:ext>
            </a:extLst>
          </p:cNvPr>
          <p:cNvSpPr/>
          <p:nvPr/>
        </p:nvSpPr>
        <p:spPr>
          <a:xfrm>
            <a:off x="7360920" y="2057400"/>
            <a:ext cx="1417319" cy="105156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80" b="1">
                <a:solidFill>
                  <a:srgbClr val="26323E"/>
                </a:solidFill>
                <a:latin typeface="Aptos" panose="020B0004020202020204" pitchFamily="34" charset="0"/>
              </a:rPr>
              <a:t>Posterior-Retrieval Confidence Gate</a:t>
            </a:r>
            <a:endParaRPr lang="zh-CN" altLang="en-US" sz="9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4C824B0-BF0D-55C4-9323-3FC394726552}"/>
              </a:ext>
            </a:extLst>
          </p:cNvPr>
          <p:cNvSpPr/>
          <p:nvPr/>
        </p:nvSpPr>
        <p:spPr>
          <a:xfrm>
            <a:off x="9144000" y="2121408"/>
            <a:ext cx="1325880" cy="91440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40" b="1">
                <a:solidFill>
                  <a:srgbClr val="26323E"/>
                </a:solidFill>
                <a:latin typeface="Aptos" panose="020B0004020202020204" pitchFamily="34" charset="0"/>
              </a:rPr>
              <a:t>Pseudo Spectral Condition</a:t>
            </a:r>
            <a:endParaRPr lang="zh-CN" altLang="en-US" sz="104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5328EA8-7DA4-2C4A-2E45-B4DBCAA62DAA}"/>
              </a:ext>
            </a:extLst>
          </p:cNvPr>
          <p:cNvSpPr/>
          <p:nvPr/>
        </p:nvSpPr>
        <p:spPr>
          <a:xfrm>
            <a:off x="10561320" y="1920240"/>
            <a:ext cx="1051560" cy="13258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30" b="1">
                <a:solidFill>
                  <a:srgbClr val="26323E"/>
                </a:solidFill>
                <a:latin typeface="Aptos" panose="020B0004020202020204" pitchFamily="34" charset="0"/>
              </a:rPr>
              <a:t>Conditional Pigment Diffusion Denoiser</a:t>
            </a:r>
            <a:endParaRPr lang="zh-CN" altLang="en-US" sz="93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6FF8B8-FC63-0BAA-D8ED-1E0BC8FE665E}"/>
              </a:ext>
            </a:extLst>
          </p:cNvPr>
          <p:cNvCxnSpPr/>
          <p:nvPr/>
        </p:nvCxnSpPr>
        <p:spPr>
          <a:xfrm>
            <a:off x="1618488" y="2697480"/>
            <a:ext cx="164592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33ECFD6-2BF8-C79E-44F1-DCAC19AF0C35}"/>
              </a:ext>
            </a:extLst>
          </p:cNvPr>
          <p:cNvCxnSpPr/>
          <p:nvPr/>
        </p:nvCxnSpPr>
        <p:spPr>
          <a:xfrm flipV="1">
            <a:off x="3200400" y="1828800"/>
            <a:ext cx="292608" cy="77724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3569BFA-EFB3-A48D-0B9D-E18B3F89E75D}"/>
              </a:ext>
            </a:extLst>
          </p:cNvPr>
          <p:cNvCxnSpPr/>
          <p:nvPr/>
        </p:nvCxnSpPr>
        <p:spPr>
          <a:xfrm>
            <a:off x="3200400" y="2724912"/>
            <a:ext cx="292608" cy="749808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0B38321-FB4D-F9EF-2BDB-72D913664069}"/>
              </a:ext>
            </a:extLst>
          </p:cNvPr>
          <p:cNvCxnSpPr/>
          <p:nvPr/>
        </p:nvCxnSpPr>
        <p:spPr>
          <a:xfrm>
            <a:off x="6263640" y="2011680"/>
            <a:ext cx="0" cy="4572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FC988B8-64FF-F563-316E-CA910F42BCAB}"/>
              </a:ext>
            </a:extLst>
          </p:cNvPr>
          <p:cNvCxnSpPr/>
          <p:nvPr/>
        </p:nvCxnSpPr>
        <p:spPr>
          <a:xfrm>
            <a:off x="5138928" y="1847088"/>
            <a:ext cx="2221992" cy="530352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5F91BCE-F70B-9CD2-6687-232F9AA74A45}"/>
              </a:ext>
            </a:extLst>
          </p:cNvPr>
          <p:cNvCxnSpPr/>
          <p:nvPr/>
        </p:nvCxnSpPr>
        <p:spPr>
          <a:xfrm flipV="1">
            <a:off x="5138928" y="2697480"/>
            <a:ext cx="2221992" cy="795528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8ED9AF2-3615-9346-5DEC-5A273E671572}"/>
              </a:ext>
            </a:extLst>
          </p:cNvPr>
          <p:cNvCxnSpPr/>
          <p:nvPr/>
        </p:nvCxnSpPr>
        <p:spPr>
          <a:xfrm>
            <a:off x="6949440" y="2487168"/>
            <a:ext cx="41148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BE27835-D101-8F2F-6A66-677D08D2262B}"/>
              </a:ext>
            </a:extLst>
          </p:cNvPr>
          <p:cNvCxnSpPr/>
          <p:nvPr/>
        </p:nvCxnSpPr>
        <p:spPr>
          <a:xfrm>
            <a:off x="8778240" y="2578608"/>
            <a:ext cx="365760" cy="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147140C-6AFB-5059-3A31-840643EBCC5F}"/>
              </a:ext>
            </a:extLst>
          </p:cNvPr>
          <p:cNvCxnSpPr/>
          <p:nvPr/>
        </p:nvCxnSpPr>
        <p:spPr>
          <a:xfrm>
            <a:off x="10469880" y="2578608"/>
            <a:ext cx="9144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D0E39C0-62A5-9D40-03EB-511BBEB103BB}"/>
              </a:ext>
            </a:extLst>
          </p:cNvPr>
          <p:cNvSpPr/>
          <p:nvPr/>
        </p:nvSpPr>
        <p:spPr>
          <a:xfrm>
            <a:off x="731520" y="4983480"/>
            <a:ext cx="10835640" cy="68580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40">
                <a:solidFill>
                  <a:srgbClr val="26323E"/>
                </a:solidFill>
                <a:latin typeface="Aptos" panose="020B0004020202020204" pitchFamily="34" charset="0"/>
              </a:rPr>
              <a:t>Training note: true spectral condition is available only during training and is not drawn as deployment-time input.</a:t>
            </a:r>
            <a:endParaRPr lang="zh-CN" altLang="en-US" sz="104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79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F0D06FA-0B92-6235-3837-77A03274BE92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Stage-I Deployment Product: 3D Pigment LUT Construction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31DD36-E27D-D006-2471-A2A430A9DFF3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Fig.10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DFF9D2-2B37-2A56-3647-37324BF03FAC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465E014-6422-9F63-5DD7-E74A2DA4F8F7}"/>
              </a:ext>
            </a:extLst>
          </p:cNvPr>
          <p:cNvSpPr/>
          <p:nvPr/>
        </p:nvSpPr>
        <p:spPr>
          <a:xfrm>
            <a:off x="777240" y="2011680"/>
            <a:ext cx="1874520" cy="123444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80" b="1">
                <a:solidFill>
                  <a:srgbClr val="26323E"/>
                </a:solidFill>
                <a:latin typeface="Aptos" panose="020B0004020202020204" pitchFamily="34" charset="0"/>
              </a:rPr>
              <a:t>RGB Grid Sampling</a:t>
            </a:r>
            <a:endParaRPr lang="zh-CN" altLang="en-US" sz="11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A314219-7155-465A-F905-F58A67158662}"/>
              </a:ext>
            </a:extLst>
          </p:cNvPr>
          <p:cNvSpPr/>
          <p:nvPr/>
        </p:nvSpPr>
        <p:spPr>
          <a:xfrm>
            <a:off x="2971800" y="2011680"/>
            <a:ext cx="2148840" cy="123444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40" b="1">
                <a:solidFill>
                  <a:srgbClr val="26323E"/>
                </a:solidFill>
                <a:latin typeface="Aptos" panose="020B0004020202020204" pitchFamily="34" charset="0"/>
              </a:rPr>
              <a:t>Batch Single-Color Inference</a:t>
            </a:r>
            <a:endParaRPr lang="zh-CN" altLang="en-US" sz="114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FBC3FEC-1A1E-EB5E-2461-5281B9D9FD9F}"/>
              </a:ext>
            </a:extLst>
          </p:cNvPr>
          <p:cNvSpPr/>
          <p:nvPr/>
        </p:nvSpPr>
        <p:spPr>
          <a:xfrm>
            <a:off x="5440680" y="2011680"/>
            <a:ext cx="2240280" cy="123444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80" b="1">
                <a:solidFill>
                  <a:srgbClr val="26323E"/>
                </a:solidFill>
                <a:latin typeface="Aptos" panose="020B0004020202020204" pitchFamily="34" charset="0"/>
              </a:rPr>
              <a:t>Confidence / Uncertainty Diagnostics</a:t>
            </a:r>
            <a:endParaRPr lang="zh-CN" altLang="en-US" sz="10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1785C2-478B-865D-EFBA-93B506DB58EB}"/>
              </a:ext>
            </a:extLst>
          </p:cNvPr>
          <p:cNvSpPr/>
          <p:nvPr/>
        </p:nvSpPr>
        <p:spPr>
          <a:xfrm>
            <a:off x="7955280" y="2011680"/>
            <a:ext cx="1691640" cy="123444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>
                <a:solidFill>
                  <a:srgbClr val="26323E"/>
                </a:solidFill>
                <a:latin typeface="Aptos" panose="020B0004020202020204" pitchFamily="34" charset="0"/>
              </a:rPr>
              <a:t>Optional Stabilization</a:t>
            </a:r>
            <a:endParaRPr lang="zh-CN" altLang="en-US" sz="11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59370E6-CB15-8278-50E7-F2D1CFA2A0B4}"/>
              </a:ext>
            </a:extLst>
          </p:cNvPr>
          <p:cNvSpPr/>
          <p:nvPr/>
        </p:nvSpPr>
        <p:spPr>
          <a:xfrm>
            <a:off x="9921240" y="1755648"/>
            <a:ext cx="1783080" cy="17373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40">
                <a:solidFill>
                  <a:srgbClr val="26323E"/>
                </a:solidFill>
                <a:latin typeface="Aptos" panose="020B0004020202020204" pitchFamily="34" charset="0"/>
              </a:rPr>
              <a:t>3D LUT Cube Placeholder</a:t>
            </a:r>
            <a:endParaRPr lang="zh-CN" altLang="en-US" sz="94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95516F-63FB-1CEA-9F2F-BE6CAB3709A6}"/>
              </a:ext>
            </a:extLst>
          </p:cNvPr>
          <p:cNvSpPr txBox="1"/>
          <p:nvPr/>
        </p:nvSpPr>
        <p:spPr>
          <a:xfrm>
            <a:off x="9994392" y="1463040"/>
            <a:ext cx="1645920" cy="249299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ctr"/>
            <a:r>
              <a:rPr lang="en-US" altLang="zh-CN" sz="1120" b="1">
                <a:solidFill>
                  <a:srgbClr val="26323E"/>
                </a:solidFill>
                <a:latin typeface="Aptos" panose="020B0004020202020204" pitchFamily="34" charset="0"/>
              </a:rPr>
              <a:t>3D Pigment LUT Builder</a:t>
            </a:r>
            <a:endParaRPr lang="zh-CN" altLang="en-US" sz="11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ADF9315-09C9-BFE7-443D-4AF58B6411F9}"/>
              </a:ext>
            </a:extLst>
          </p:cNvPr>
          <p:cNvCxnSpPr/>
          <p:nvPr/>
        </p:nvCxnSpPr>
        <p:spPr>
          <a:xfrm>
            <a:off x="2651760" y="2633472"/>
            <a:ext cx="32004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9691466-2CA7-F622-6F56-E04357E50F21}"/>
              </a:ext>
            </a:extLst>
          </p:cNvPr>
          <p:cNvCxnSpPr/>
          <p:nvPr/>
        </p:nvCxnSpPr>
        <p:spPr>
          <a:xfrm>
            <a:off x="5120640" y="2633472"/>
            <a:ext cx="32004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1983320-DF0B-36A2-8451-BF6646D1E2A3}"/>
              </a:ext>
            </a:extLst>
          </p:cNvPr>
          <p:cNvCxnSpPr/>
          <p:nvPr/>
        </p:nvCxnSpPr>
        <p:spPr>
          <a:xfrm>
            <a:off x="7680960" y="2633472"/>
            <a:ext cx="27432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E3183F5-E646-7CAB-177B-342016C732CD}"/>
              </a:ext>
            </a:extLst>
          </p:cNvPr>
          <p:cNvCxnSpPr/>
          <p:nvPr/>
        </p:nvCxnSpPr>
        <p:spPr>
          <a:xfrm>
            <a:off x="9646920" y="2633472"/>
            <a:ext cx="274320" cy="0"/>
          </a:xfrm>
          <a:prstGeom prst="straightConnector1">
            <a:avLst/>
          </a:prstGeom>
          <a:ln w="27940">
            <a:solidFill>
              <a:srgbClr val="D9A4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2C17C37-1DA2-3097-0C28-5845BD733062}"/>
              </a:ext>
            </a:extLst>
          </p:cNvPr>
          <p:cNvSpPr/>
          <p:nvPr/>
        </p:nvSpPr>
        <p:spPr>
          <a:xfrm>
            <a:off x="8732520" y="3977640"/>
            <a:ext cx="2834640" cy="9601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Stored keys: lut_rgb, lut_lab, lut_conf, lut_std, lut_cdiff, lut_cret</a:t>
            </a:r>
            <a:endParaRPr lang="zh-CN" altLang="en-US" sz="9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43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A3B0203-AF60-E100-3F71-526EC2D29E59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Enhanced Stage-II Framework on Top of StrDiffusion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7CBE3A-FFCE-60CD-FB0D-2329CDD75B9E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Fig.12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A3E508-000C-D8F7-D69E-9F499238E037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CD8C55F-E05F-A8FC-AF02-B75FC01141F4}"/>
              </a:ext>
            </a:extLst>
          </p:cNvPr>
          <p:cNvSpPr/>
          <p:nvPr/>
        </p:nvSpPr>
        <p:spPr>
          <a:xfrm>
            <a:off x="502920" y="868680"/>
            <a:ext cx="8275319" cy="461772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8054D8-4829-50A9-0F5A-261E83CFF6A8}"/>
              </a:ext>
            </a:extLst>
          </p:cNvPr>
          <p:cNvSpPr txBox="1"/>
          <p:nvPr/>
        </p:nvSpPr>
        <p:spPr>
          <a:xfrm>
            <a:off x="667512" y="941832"/>
            <a:ext cx="800100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(A) Main Stage-II Architecture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16124B0-E8A6-E8EB-7DC8-A093591613EF}"/>
              </a:ext>
            </a:extLst>
          </p:cNvPr>
          <p:cNvSpPr/>
          <p:nvPr/>
        </p:nvSpPr>
        <p:spPr>
          <a:xfrm>
            <a:off x="822960" y="2194560"/>
            <a:ext cx="1005840" cy="8229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00">
                <a:solidFill>
                  <a:srgbClr val="26323E"/>
                </a:solidFill>
                <a:latin typeface="Aptos" panose="020B0004020202020204" pitchFamily="34" charset="0"/>
              </a:rPr>
              <a:t>Degraded Mural</a:t>
            </a:r>
            <a:endParaRPr lang="zh-CN" altLang="en-US" sz="10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7CECD7-9C7C-6710-A90D-FA5BAE521088}"/>
              </a:ext>
            </a:extLst>
          </p:cNvPr>
          <p:cNvSpPr/>
          <p:nvPr/>
        </p:nvSpPr>
        <p:spPr>
          <a:xfrm>
            <a:off x="1097280" y="1234440"/>
            <a:ext cx="868680" cy="59436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30" b="1">
                <a:solidFill>
                  <a:srgbClr val="26323E"/>
                </a:solidFill>
                <a:latin typeface="Aptos" panose="020B0004020202020204" pitchFamily="34" charset="0"/>
              </a:rPr>
              <a:t>Hole Mask</a:t>
            </a:r>
            <a:endParaRPr lang="zh-CN" altLang="en-US" sz="103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F82BB44-DC18-8C68-897E-26ABAE02E91B}"/>
              </a:ext>
            </a:extLst>
          </p:cNvPr>
          <p:cNvSpPr/>
          <p:nvPr/>
        </p:nvSpPr>
        <p:spPr>
          <a:xfrm>
            <a:off x="2148840" y="2103120"/>
            <a:ext cx="1234440" cy="91440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70" b="1">
                <a:solidFill>
                  <a:srgbClr val="26323E"/>
                </a:solidFill>
                <a:latin typeface="Aptos" panose="020B0004020202020204" pitchFamily="34" charset="0"/>
              </a:rPr>
              <a:t>LUT Prior Composer</a:t>
            </a:r>
            <a:endParaRPr lang="zh-CN" altLang="en-US" sz="107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FCE018-49DC-B4CD-E8F0-634D8BEC4C17}"/>
              </a:ext>
            </a:extLst>
          </p:cNvPr>
          <p:cNvSpPr/>
          <p:nvPr/>
        </p:nvSpPr>
        <p:spPr>
          <a:xfrm>
            <a:off x="2240280" y="3429000"/>
            <a:ext cx="1051560" cy="713232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Mu Cleaner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521A32-1B17-160F-DB0C-178636B1BCF5}"/>
              </a:ext>
            </a:extLst>
          </p:cNvPr>
          <p:cNvSpPr/>
          <p:nvPr/>
        </p:nvSpPr>
        <p:spPr>
          <a:xfrm>
            <a:off x="3749040" y="1691640"/>
            <a:ext cx="1234440" cy="77724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20" b="1">
                <a:solidFill>
                  <a:srgbClr val="26323E"/>
                </a:solidFill>
                <a:latin typeface="Aptos" panose="020B0004020202020204" pitchFamily="34" charset="0"/>
              </a:rPr>
              <a:t>Pixel Condition Encoder</a:t>
            </a:r>
            <a:endParaRPr lang="zh-CN" altLang="en-US" sz="10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295FAC8-A68C-5FFF-1703-AD0FB3309293}"/>
              </a:ext>
            </a:extLst>
          </p:cNvPr>
          <p:cNvSpPr/>
          <p:nvPr/>
        </p:nvSpPr>
        <p:spPr>
          <a:xfrm>
            <a:off x="5212080" y="1508760"/>
            <a:ext cx="1965960" cy="2560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485753-3DB6-E69C-B05E-FC3C7D5EBF17}"/>
              </a:ext>
            </a:extLst>
          </p:cNvPr>
          <p:cNvSpPr txBox="1"/>
          <p:nvPr/>
        </p:nvSpPr>
        <p:spPr>
          <a:xfrm>
            <a:off x="5376672" y="1581912"/>
            <a:ext cx="1691640" cy="523220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Prior-Guided Texture U-Net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323F77C-9727-F0E3-5B4D-61A0B5ECBE1D}"/>
              </a:ext>
            </a:extLst>
          </p:cNvPr>
          <p:cNvSpPr/>
          <p:nvPr/>
        </p:nvSpPr>
        <p:spPr>
          <a:xfrm>
            <a:off x="5440680" y="2240280"/>
            <a:ext cx="594360" cy="530352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880" b="1">
                <a:solidFill>
                  <a:srgbClr val="26323E"/>
                </a:solidFill>
                <a:latin typeface="Aptos" panose="020B0004020202020204" pitchFamily="34" charset="0"/>
              </a:rPr>
              <a:t>Enc-1</a:t>
            </a:r>
            <a:endParaRPr lang="zh-CN" altLang="en-US" sz="8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6D09AC8-F88B-E786-DFD6-081192119D53}"/>
              </a:ext>
            </a:extLst>
          </p:cNvPr>
          <p:cNvSpPr/>
          <p:nvPr/>
        </p:nvSpPr>
        <p:spPr>
          <a:xfrm>
            <a:off x="6172200" y="1920240"/>
            <a:ext cx="640080" cy="530352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880" b="1">
                <a:solidFill>
                  <a:srgbClr val="26323E"/>
                </a:solidFill>
                <a:latin typeface="Aptos" panose="020B0004020202020204" pitchFamily="34" charset="0"/>
              </a:rPr>
              <a:t>Enc-2</a:t>
            </a:r>
            <a:endParaRPr lang="zh-CN" altLang="en-US" sz="8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E63BA70-ADF3-80AF-9A6C-F90B4B69C414}"/>
              </a:ext>
            </a:extLst>
          </p:cNvPr>
          <p:cNvSpPr/>
          <p:nvPr/>
        </p:nvSpPr>
        <p:spPr>
          <a:xfrm>
            <a:off x="6172200" y="2788920"/>
            <a:ext cx="640080" cy="530352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20" b="1">
                <a:solidFill>
                  <a:srgbClr val="26323E"/>
                </a:solidFill>
                <a:latin typeface="Aptos" panose="020B0004020202020204" pitchFamily="34" charset="0"/>
              </a:rPr>
              <a:t>MGLC</a:t>
            </a:r>
            <a:endParaRPr lang="zh-CN" altLang="en-US" sz="9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B6A5F2C-4FE3-0366-3ED8-CC814CCCB831}"/>
              </a:ext>
            </a:extLst>
          </p:cNvPr>
          <p:cNvSpPr/>
          <p:nvPr/>
        </p:nvSpPr>
        <p:spPr>
          <a:xfrm>
            <a:off x="7406640" y="2148840"/>
            <a:ext cx="1097280" cy="123444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00" b="1">
                <a:solidFill>
                  <a:srgbClr val="26323E"/>
                </a:solidFill>
                <a:latin typeface="Aptos" panose="020B0004020202020204" pitchFamily="34" charset="0"/>
              </a:rPr>
              <a:t>Official-Compatible Enhanced Reverse SDE</a:t>
            </a:r>
            <a:endParaRPr lang="zh-CN" altLang="en-US" sz="9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190DF8-B4A1-A9F9-2F50-74FBDEE2D38E}"/>
              </a:ext>
            </a:extLst>
          </p:cNvPr>
          <p:cNvSpPr/>
          <p:nvPr/>
        </p:nvSpPr>
        <p:spPr>
          <a:xfrm>
            <a:off x="7269480" y="896112"/>
            <a:ext cx="1325881" cy="5029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40">
                <a:solidFill>
                  <a:srgbClr val="26323E"/>
                </a:solidFill>
                <a:latin typeface="Aptos" panose="020B0004020202020204" pitchFamily="34" charset="0"/>
              </a:rPr>
              <a:t>Optional Structure Guidance</a:t>
            </a:r>
            <a:endParaRPr lang="zh-CN" altLang="en-US" sz="94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8C846F6-9AF4-3286-77D6-3B56ACF3E60A}"/>
              </a:ext>
            </a:extLst>
          </p:cNvPr>
          <p:cNvSpPr/>
          <p:nvPr/>
        </p:nvSpPr>
        <p:spPr>
          <a:xfrm>
            <a:off x="7635240" y="4389120"/>
            <a:ext cx="868680" cy="804672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>
                <a:solidFill>
                  <a:srgbClr val="26323E"/>
                </a:solidFill>
                <a:latin typeface="Aptos" panose="020B0004020202020204" pitchFamily="34" charset="0"/>
              </a:rPr>
              <a:t>Restored Mural</a:t>
            </a:r>
            <a:endParaRPr lang="zh-CN" altLang="en-US" sz="95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E7699B6-76BB-C36C-F0FA-E3D43DE733DE}"/>
              </a:ext>
            </a:extLst>
          </p:cNvPr>
          <p:cNvCxnSpPr/>
          <p:nvPr/>
        </p:nvCxnSpPr>
        <p:spPr>
          <a:xfrm>
            <a:off x="1828800" y="2606040"/>
            <a:ext cx="32004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365716E-8A3C-16C3-B495-DD33552E69B1}"/>
              </a:ext>
            </a:extLst>
          </p:cNvPr>
          <p:cNvCxnSpPr/>
          <p:nvPr/>
        </p:nvCxnSpPr>
        <p:spPr>
          <a:xfrm>
            <a:off x="1536192" y="1828800"/>
            <a:ext cx="795528" cy="27432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81E4723-0ADC-16E5-48EA-FE630C83AF7F}"/>
              </a:ext>
            </a:extLst>
          </p:cNvPr>
          <p:cNvCxnSpPr/>
          <p:nvPr/>
        </p:nvCxnSpPr>
        <p:spPr>
          <a:xfrm flipV="1">
            <a:off x="3383280" y="2084832"/>
            <a:ext cx="365760" cy="429768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88A369C-2582-A0F3-A2F2-D3DA69D62A92}"/>
              </a:ext>
            </a:extLst>
          </p:cNvPr>
          <p:cNvCxnSpPr/>
          <p:nvPr/>
        </p:nvCxnSpPr>
        <p:spPr>
          <a:xfrm>
            <a:off x="3291840" y="3657600"/>
            <a:ext cx="192024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B94FBE5-CC1F-A947-6DFD-D63FC02F3325}"/>
              </a:ext>
            </a:extLst>
          </p:cNvPr>
          <p:cNvCxnSpPr/>
          <p:nvPr/>
        </p:nvCxnSpPr>
        <p:spPr>
          <a:xfrm>
            <a:off x="4983480" y="2084832"/>
            <a:ext cx="22860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9587DCA-6A2B-4C07-7A00-E46724FF213E}"/>
              </a:ext>
            </a:extLst>
          </p:cNvPr>
          <p:cNvCxnSpPr/>
          <p:nvPr/>
        </p:nvCxnSpPr>
        <p:spPr>
          <a:xfrm>
            <a:off x="7178040" y="2788920"/>
            <a:ext cx="22860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48BF7AF-AD24-D9D1-F4D5-BAD7196A8F8E}"/>
              </a:ext>
            </a:extLst>
          </p:cNvPr>
          <p:cNvCxnSpPr/>
          <p:nvPr/>
        </p:nvCxnSpPr>
        <p:spPr>
          <a:xfrm>
            <a:off x="7955280" y="1399032"/>
            <a:ext cx="0" cy="749808"/>
          </a:xfrm>
          <a:prstGeom prst="straightConnector1">
            <a:avLst/>
          </a:prstGeom>
          <a:ln w="22860">
            <a:solidFill>
              <a:srgbClr val="A5ABB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F4B8078-D079-5369-E687-A92E9D3E9E08}"/>
              </a:ext>
            </a:extLst>
          </p:cNvPr>
          <p:cNvCxnSpPr/>
          <p:nvPr/>
        </p:nvCxnSpPr>
        <p:spPr>
          <a:xfrm>
            <a:off x="7955280" y="3383280"/>
            <a:ext cx="0" cy="100584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EBE91C9-A11B-F74F-142D-1382C78AA774}"/>
              </a:ext>
            </a:extLst>
          </p:cNvPr>
          <p:cNvSpPr/>
          <p:nvPr/>
        </p:nvSpPr>
        <p:spPr>
          <a:xfrm>
            <a:off x="9098280" y="932688"/>
            <a:ext cx="2514600" cy="13258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10">
                <a:solidFill>
                  <a:srgbClr val="26323E"/>
                </a:solidFill>
                <a:latin typeface="Aptos" panose="020B0004020202020204" pitchFamily="34" charset="0"/>
              </a:rPr>
              <a:t>Callout 1: Pixel Condition Encoder is a side branch aligned with the main U-Net.</a:t>
            </a:r>
            <a:endParaRPr lang="zh-CN" altLang="en-US" sz="101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DF3677-7ED9-0554-A92C-5C7A88C65E18}"/>
              </a:ext>
            </a:extLst>
          </p:cNvPr>
          <p:cNvSpPr/>
          <p:nvPr/>
        </p:nvSpPr>
        <p:spPr>
          <a:xfrm>
            <a:off x="9098280" y="2542032"/>
            <a:ext cx="2514600" cy="13258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10">
                <a:solidFill>
                  <a:srgbClr val="26323E"/>
                </a:solidFill>
                <a:latin typeface="Aptos" panose="020B0004020202020204" pitchFamily="34" charset="0"/>
              </a:rPr>
              <a:t>Callout 2: MGLC is inserted after prior fusion inside bottleneck / decoder.</a:t>
            </a:r>
            <a:endParaRPr lang="zh-CN" altLang="en-US" sz="101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7022F8B-36A3-FEE2-98E7-6D4FF7EC8D63}"/>
              </a:ext>
            </a:extLst>
          </p:cNvPr>
          <p:cNvSpPr/>
          <p:nvPr/>
        </p:nvSpPr>
        <p:spPr>
          <a:xfrm>
            <a:off x="9098280" y="4151376"/>
            <a:ext cx="2514600" cy="13258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10">
                <a:solidFill>
                  <a:srgbClr val="26323E"/>
                </a:solidFill>
                <a:latin typeface="Aptos" panose="020B0004020202020204" pitchFamily="34" charset="0"/>
              </a:rPr>
              <a:t>Callout 3: Inference remains compatible by keeping the official reverse_sde(...) entry.</a:t>
            </a:r>
            <a:endParaRPr lang="zh-CN" altLang="en-US" sz="101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1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51C7F1-3232-5A34-918A-A2C7FCF92EDE}"/>
              </a:ext>
            </a:extLst>
          </p:cNvPr>
          <p:cNvSpPr txBox="1"/>
          <p:nvPr/>
        </p:nvSpPr>
        <p:spPr>
          <a:xfrm>
            <a:off x="502920" y="164592"/>
            <a:ext cx="8595360" cy="83099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LUT Prior Composer for Color Prior and Confidence Construction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B809E5-1D1E-A140-5FE8-F2AC303007F4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Fig.13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EBA635-2072-B279-929B-849A8542AF02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8390E62-F3BD-D78E-EE24-4AC7523EAB21}"/>
              </a:ext>
            </a:extLst>
          </p:cNvPr>
          <p:cNvSpPr/>
          <p:nvPr/>
        </p:nvSpPr>
        <p:spPr>
          <a:xfrm>
            <a:off x="685800" y="2148840"/>
            <a:ext cx="1051560" cy="91440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20">
                <a:solidFill>
                  <a:srgbClr val="26323E"/>
                </a:solidFill>
                <a:latin typeface="Aptos" panose="020B0004020202020204" pitchFamily="34" charset="0"/>
              </a:rPr>
              <a:t>Mural Input Placeholder</a:t>
            </a:r>
            <a:endParaRPr lang="zh-CN" altLang="en-US" sz="92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80575BF-961D-5213-41F3-24410E07EF98}"/>
              </a:ext>
            </a:extLst>
          </p:cNvPr>
          <p:cNvSpPr/>
          <p:nvPr/>
        </p:nvSpPr>
        <p:spPr>
          <a:xfrm>
            <a:off x="685800" y="960120"/>
            <a:ext cx="1051560" cy="8686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20">
                <a:solidFill>
                  <a:srgbClr val="26323E"/>
                </a:solidFill>
                <a:latin typeface="Aptos" panose="020B0004020202020204" pitchFamily="34" charset="0"/>
              </a:rPr>
              <a:t>LUT Cube Placeholder</a:t>
            </a:r>
            <a:endParaRPr lang="zh-CN" altLang="en-US" sz="92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18F0D62-96BC-A963-66E9-A4D293030A2E}"/>
              </a:ext>
            </a:extLst>
          </p:cNvPr>
          <p:cNvSpPr/>
          <p:nvPr/>
        </p:nvSpPr>
        <p:spPr>
          <a:xfrm>
            <a:off x="2011680" y="1965960"/>
            <a:ext cx="1600200" cy="109728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Trilinear LUT Mapper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D2399DB-47B4-AC2B-8B52-7FE2F85E7A5C}"/>
              </a:ext>
            </a:extLst>
          </p:cNvPr>
          <p:cNvSpPr/>
          <p:nvPr/>
        </p:nvSpPr>
        <p:spPr>
          <a:xfrm>
            <a:off x="3977640" y="1965960"/>
            <a:ext cx="1600200" cy="109728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Hole-Region Inpainting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3BF036A-30E8-73C1-AA00-84D20D6D46A6}"/>
              </a:ext>
            </a:extLst>
          </p:cNvPr>
          <p:cNvSpPr/>
          <p:nvPr/>
        </p:nvSpPr>
        <p:spPr>
          <a:xfrm>
            <a:off x="5943600" y="1965960"/>
            <a:ext cx="1783080" cy="109728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80" b="1">
                <a:solidFill>
                  <a:srgbClr val="26323E"/>
                </a:solidFill>
                <a:latin typeface="Aptos" panose="020B0004020202020204" pitchFamily="34" charset="0"/>
              </a:rPr>
              <a:t>Spatial Confidence Estimation</a:t>
            </a:r>
            <a:endParaRPr lang="zh-CN" altLang="en-US" sz="10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48B43CD-9D52-D2B4-3D96-B5D1802ACA00}"/>
              </a:ext>
            </a:extLst>
          </p:cNvPr>
          <p:cNvSpPr/>
          <p:nvPr/>
        </p:nvSpPr>
        <p:spPr>
          <a:xfrm>
            <a:off x="8138160" y="1965960"/>
            <a:ext cx="1463040" cy="109728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Confidence Fusion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7A27E6-7E1E-3BFE-C7D8-04DB0654DC25}"/>
              </a:ext>
            </a:extLst>
          </p:cNvPr>
          <p:cNvSpPr/>
          <p:nvPr/>
        </p:nvSpPr>
        <p:spPr>
          <a:xfrm>
            <a:off x="10012680" y="1508760"/>
            <a:ext cx="1051560" cy="86868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80" b="1">
                <a:solidFill>
                  <a:srgbClr val="26323E"/>
                </a:solidFill>
                <a:latin typeface="Aptos" panose="020B0004020202020204" pitchFamily="34" charset="0"/>
              </a:rPr>
              <a:t>Color Prior</a:t>
            </a:r>
            <a:endParaRPr lang="zh-CN" altLang="en-US" sz="10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E1DD53-0A6B-8302-DD65-422779F5C825}"/>
              </a:ext>
            </a:extLst>
          </p:cNvPr>
          <p:cNvSpPr/>
          <p:nvPr/>
        </p:nvSpPr>
        <p:spPr>
          <a:xfrm>
            <a:off x="10012680" y="2788920"/>
            <a:ext cx="1051560" cy="8686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20">
                <a:solidFill>
                  <a:srgbClr val="26323E"/>
                </a:solidFill>
                <a:latin typeface="Aptos" panose="020B0004020202020204" pitchFamily="34" charset="0"/>
              </a:rPr>
              <a:t>Confidence Heatmap Placeholder</a:t>
            </a:r>
            <a:endParaRPr lang="zh-CN" altLang="en-US" sz="92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9394EE-0C41-5BCC-8C81-18DC71B512B0}"/>
              </a:ext>
            </a:extLst>
          </p:cNvPr>
          <p:cNvCxnSpPr/>
          <p:nvPr/>
        </p:nvCxnSpPr>
        <p:spPr>
          <a:xfrm>
            <a:off x="1737360" y="2514600"/>
            <a:ext cx="27432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03B3287-E6B7-5399-6B25-5C0834BA7D50}"/>
              </a:ext>
            </a:extLst>
          </p:cNvPr>
          <p:cNvCxnSpPr/>
          <p:nvPr/>
        </p:nvCxnSpPr>
        <p:spPr>
          <a:xfrm>
            <a:off x="1737360" y="1371600"/>
            <a:ext cx="777240" cy="594360"/>
          </a:xfrm>
          <a:prstGeom prst="straightConnector1">
            <a:avLst/>
          </a:prstGeom>
          <a:ln w="22860">
            <a:solidFill>
              <a:srgbClr val="D9A4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397BA89-9E00-5F7A-D04E-FD2037F307FC}"/>
              </a:ext>
            </a:extLst>
          </p:cNvPr>
          <p:cNvCxnSpPr/>
          <p:nvPr/>
        </p:nvCxnSpPr>
        <p:spPr>
          <a:xfrm>
            <a:off x="3611880" y="2514600"/>
            <a:ext cx="36576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83F1C48-A4A0-C132-FD68-C52968B00914}"/>
              </a:ext>
            </a:extLst>
          </p:cNvPr>
          <p:cNvCxnSpPr/>
          <p:nvPr/>
        </p:nvCxnSpPr>
        <p:spPr>
          <a:xfrm>
            <a:off x="5577840" y="2514600"/>
            <a:ext cx="36576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A05B898-D0E4-031E-55EE-1A30654D6148}"/>
              </a:ext>
            </a:extLst>
          </p:cNvPr>
          <p:cNvCxnSpPr/>
          <p:nvPr/>
        </p:nvCxnSpPr>
        <p:spPr>
          <a:xfrm>
            <a:off x="7726680" y="2514600"/>
            <a:ext cx="411480" cy="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694009-4AD0-E231-0344-982CC8EE759E}"/>
              </a:ext>
            </a:extLst>
          </p:cNvPr>
          <p:cNvCxnSpPr/>
          <p:nvPr/>
        </p:nvCxnSpPr>
        <p:spPr>
          <a:xfrm flipV="1">
            <a:off x="9601200" y="1938528"/>
            <a:ext cx="411480" cy="347472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48CC671-4292-EC98-5CB7-BC4CB147C228}"/>
              </a:ext>
            </a:extLst>
          </p:cNvPr>
          <p:cNvCxnSpPr/>
          <p:nvPr/>
        </p:nvCxnSpPr>
        <p:spPr>
          <a:xfrm>
            <a:off x="9601200" y="2697480"/>
            <a:ext cx="411480" cy="429768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5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E3D8E5-67A8-6E6D-1FCE-5DEF27E086BA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Pixel Condition Encoder and Multi-Scale Feature Injection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C37F8C-EFC6-4791-2EE5-9A7E932FD0EB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Fig.14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63C3E-F514-9F2B-5E18-0728CADC7717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9328E50-66C5-16C4-76BC-58F62A5CF30F}"/>
              </a:ext>
            </a:extLst>
          </p:cNvPr>
          <p:cNvSpPr/>
          <p:nvPr/>
        </p:nvSpPr>
        <p:spPr>
          <a:xfrm>
            <a:off x="594360" y="2103120"/>
            <a:ext cx="1600200" cy="105156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 b="1">
                <a:solidFill>
                  <a:srgbClr val="26323E"/>
                </a:solidFill>
                <a:latin typeface="Aptos" panose="020B0004020202020204" pitchFamily="34" charset="0"/>
              </a:rPr>
              <a:t>Noisy Image + mask_hole + Color Prior + Confidence</a:t>
            </a:r>
            <a:endParaRPr lang="zh-CN" altLang="en-US" sz="9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131B355-E794-388F-6A21-EB6A24A38318}"/>
              </a:ext>
            </a:extLst>
          </p:cNvPr>
          <p:cNvSpPr/>
          <p:nvPr/>
        </p:nvSpPr>
        <p:spPr>
          <a:xfrm>
            <a:off x="2514600" y="1645920"/>
            <a:ext cx="1828800" cy="196596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200" b="1">
                <a:solidFill>
                  <a:srgbClr val="26323E"/>
                </a:solidFill>
                <a:latin typeface="Aptos" panose="020B0004020202020204" pitchFamily="34" charset="0"/>
              </a:rPr>
              <a:t>Pixel Condition Encoder</a:t>
            </a:r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96D9889-07E3-D4BD-28D4-8C33C8AAA091}"/>
              </a:ext>
            </a:extLst>
          </p:cNvPr>
          <p:cNvSpPr/>
          <p:nvPr/>
        </p:nvSpPr>
        <p:spPr>
          <a:xfrm>
            <a:off x="4663440" y="1097280"/>
            <a:ext cx="1097280" cy="56692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00" b="1">
                <a:solidFill>
                  <a:srgbClr val="26323E"/>
                </a:solidFill>
                <a:latin typeface="Aptos" panose="020B0004020202020204" pitchFamily="34" charset="0"/>
              </a:rPr>
              <a:t>Zero-Conv</a:t>
            </a:r>
            <a:endParaRPr lang="zh-CN" altLang="en-US" sz="9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E96036F-4585-5990-E185-7749842BA393}"/>
              </a:ext>
            </a:extLst>
          </p:cNvPr>
          <p:cNvSpPr/>
          <p:nvPr/>
        </p:nvSpPr>
        <p:spPr>
          <a:xfrm>
            <a:off x="4663440" y="1874520"/>
            <a:ext cx="1097280" cy="56692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00" b="1">
                <a:solidFill>
                  <a:srgbClr val="26323E"/>
                </a:solidFill>
                <a:latin typeface="Aptos" panose="020B0004020202020204" pitchFamily="34" charset="0"/>
              </a:rPr>
              <a:t>Zero-Conv</a:t>
            </a:r>
            <a:endParaRPr lang="zh-CN" altLang="en-US" sz="9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9795E17-CFA6-3F4F-F70E-ADC1AF738BEE}"/>
              </a:ext>
            </a:extLst>
          </p:cNvPr>
          <p:cNvSpPr/>
          <p:nvPr/>
        </p:nvSpPr>
        <p:spPr>
          <a:xfrm>
            <a:off x="4663440" y="2651760"/>
            <a:ext cx="1097280" cy="56692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00" b="1">
                <a:solidFill>
                  <a:srgbClr val="26323E"/>
                </a:solidFill>
                <a:latin typeface="Aptos" panose="020B0004020202020204" pitchFamily="34" charset="0"/>
              </a:rPr>
              <a:t>Zero-Conv</a:t>
            </a:r>
            <a:endParaRPr lang="zh-CN" altLang="en-US" sz="9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09D9443-EBDE-0DE2-D60E-ADEBB93FFE0B}"/>
              </a:ext>
            </a:extLst>
          </p:cNvPr>
          <p:cNvSpPr/>
          <p:nvPr/>
        </p:nvSpPr>
        <p:spPr>
          <a:xfrm>
            <a:off x="4663440" y="3429000"/>
            <a:ext cx="1097280" cy="566928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00" b="1">
                <a:solidFill>
                  <a:srgbClr val="26323E"/>
                </a:solidFill>
                <a:latin typeface="Aptos" panose="020B0004020202020204" pitchFamily="34" charset="0"/>
              </a:rPr>
              <a:t>Mid Proj.</a:t>
            </a:r>
            <a:endParaRPr lang="zh-CN" altLang="en-US" sz="9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AEE29E8-3786-E3CF-BED4-3784916A49D9}"/>
              </a:ext>
            </a:extLst>
          </p:cNvPr>
          <p:cNvSpPr/>
          <p:nvPr/>
        </p:nvSpPr>
        <p:spPr>
          <a:xfrm>
            <a:off x="6492240" y="1005840"/>
            <a:ext cx="1874521" cy="7315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20" b="1">
                <a:solidFill>
                  <a:srgbClr val="26323E"/>
                </a:solidFill>
                <a:latin typeface="Aptos" panose="020B0004020202020204" pitchFamily="34" charset="0"/>
              </a:rPr>
              <a:t>Encoder Level 1</a:t>
            </a:r>
            <a:endParaRPr lang="zh-CN" altLang="en-US" sz="10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2B450EF-8841-154D-A79D-B5F89E36ED8F}"/>
              </a:ext>
            </a:extLst>
          </p:cNvPr>
          <p:cNvCxnSpPr/>
          <p:nvPr/>
        </p:nvCxnSpPr>
        <p:spPr>
          <a:xfrm>
            <a:off x="5760720" y="1280160"/>
            <a:ext cx="73152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526CF14-FF98-5880-52CF-CF10CECC91A1}"/>
              </a:ext>
            </a:extLst>
          </p:cNvPr>
          <p:cNvSpPr/>
          <p:nvPr/>
        </p:nvSpPr>
        <p:spPr>
          <a:xfrm>
            <a:off x="6492240" y="1828800"/>
            <a:ext cx="1874521" cy="7315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20" b="1">
                <a:solidFill>
                  <a:srgbClr val="26323E"/>
                </a:solidFill>
                <a:latin typeface="Aptos" panose="020B0004020202020204" pitchFamily="34" charset="0"/>
              </a:rPr>
              <a:t>Encoder Level 2</a:t>
            </a:r>
            <a:endParaRPr lang="zh-CN" altLang="en-US" sz="10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997CFFF-A241-60C3-D83C-CA3D45610419}"/>
              </a:ext>
            </a:extLst>
          </p:cNvPr>
          <p:cNvCxnSpPr/>
          <p:nvPr/>
        </p:nvCxnSpPr>
        <p:spPr>
          <a:xfrm>
            <a:off x="5760720" y="2103120"/>
            <a:ext cx="73152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E1966CE-8E3E-0852-2479-E9C652E5B612}"/>
              </a:ext>
            </a:extLst>
          </p:cNvPr>
          <p:cNvSpPr/>
          <p:nvPr/>
        </p:nvSpPr>
        <p:spPr>
          <a:xfrm>
            <a:off x="6492240" y="2651760"/>
            <a:ext cx="1874521" cy="7315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20" b="1">
                <a:solidFill>
                  <a:srgbClr val="26323E"/>
                </a:solidFill>
                <a:latin typeface="Aptos" panose="020B0004020202020204" pitchFamily="34" charset="0"/>
              </a:rPr>
              <a:t>Encoder Level 3</a:t>
            </a:r>
            <a:endParaRPr lang="zh-CN" altLang="en-US" sz="10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243ACF3-7BBF-AD06-DD8B-7515E5C0AC5E}"/>
              </a:ext>
            </a:extLst>
          </p:cNvPr>
          <p:cNvCxnSpPr/>
          <p:nvPr/>
        </p:nvCxnSpPr>
        <p:spPr>
          <a:xfrm>
            <a:off x="5760720" y="2926080"/>
            <a:ext cx="73152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62BE57F-71B2-7CB6-709C-FCCD8AC3E542}"/>
              </a:ext>
            </a:extLst>
          </p:cNvPr>
          <p:cNvSpPr/>
          <p:nvPr/>
        </p:nvSpPr>
        <p:spPr>
          <a:xfrm>
            <a:off x="6492240" y="3474720"/>
            <a:ext cx="1874521" cy="7315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20" b="1">
                <a:solidFill>
                  <a:srgbClr val="26323E"/>
                </a:solidFill>
                <a:latin typeface="Aptos" panose="020B0004020202020204" pitchFamily="34" charset="0"/>
              </a:rPr>
              <a:t>Bottleneck</a:t>
            </a:r>
            <a:endParaRPr lang="zh-CN" altLang="en-US" sz="10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64DA9F9-63AA-6FDC-B77D-662A09D7A433}"/>
              </a:ext>
            </a:extLst>
          </p:cNvPr>
          <p:cNvCxnSpPr/>
          <p:nvPr/>
        </p:nvCxnSpPr>
        <p:spPr>
          <a:xfrm>
            <a:off x="5760720" y="3749040"/>
            <a:ext cx="73152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6C08C5F-BC9D-9482-0D19-F98B48B81800}"/>
              </a:ext>
            </a:extLst>
          </p:cNvPr>
          <p:cNvCxnSpPr/>
          <p:nvPr/>
        </p:nvCxnSpPr>
        <p:spPr>
          <a:xfrm>
            <a:off x="2194560" y="2633472"/>
            <a:ext cx="320040" cy="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F4EC140-3135-501F-32BC-3964250A4AA7}"/>
              </a:ext>
            </a:extLst>
          </p:cNvPr>
          <p:cNvSpPr/>
          <p:nvPr/>
        </p:nvSpPr>
        <p:spPr>
          <a:xfrm>
            <a:off x="8823960" y="1463040"/>
            <a:ext cx="2331720" cy="242316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00">
                <a:solidFill>
                  <a:srgbClr val="26323E"/>
                </a:solidFill>
                <a:latin typeface="Aptos" panose="020B0004020202020204" pitchFamily="34" charset="0"/>
              </a:rPr>
              <a:t>Condition channels: noisy image, mask_hole, color prior, confidence</a:t>
            </a:r>
          </a:p>
          <a:p>
            <a:endParaRPr lang="en-US" altLang="zh-CN" sz="100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1000">
                <a:solidFill>
                  <a:srgbClr val="26323E"/>
                </a:solidFill>
                <a:latin typeface="Aptos" panose="020B0004020202020204" pitchFamily="34" charset="0"/>
              </a:rPr>
              <a:t>Side branch is aligned with the main U-Net.</a:t>
            </a:r>
          </a:p>
          <a:p>
            <a:endParaRPr lang="en-US" altLang="zh-CN" sz="100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1000">
                <a:solidFill>
                  <a:srgbClr val="26323E"/>
                </a:solidFill>
                <a:latin typeface="Aptos" panose="020B0004020202020204" pitchFamily="34" charset="0"/>
              </a:rPr>
              <a:t>Zero-conv projections enable stable multi-scale injection.</a:t>
            </a:r>
            <a:endParaRPr lang="zh-CN" altLang="en-US" sz="10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18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AFA129-6BC9-18BD-6E1B-BB568E7F6F36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Mask-Gated Local Context Block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1930BC-800D-47D9-54B5-1284EEE7F8B4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Fig.16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A5F53E-F529-DBDC-E766-3A714601D14D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179BC70-DC85-947D-ED57-CDF36F57453F}"/>
              </a:ext>
            </a:extLst>
          </p:cNvPr>
          <p:cNvSpPr/>
          <p:nvPr/>
        </p:nvSpPr>
        <p:spPr>
          <a:xfrm>
            <a:off x="731520" y="2331720"/>
            <a:ext cx="1051560" cy="8686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Feature Map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E40F5C0-8F6C-4ADE-A78C-D543D465FCAE}"/>
              </a:ext>
            </a:extLst>
          </p:cNvPr>
          <p:cNvSpPr/>
          <p:nvPr/>
        </p:nvSpPr>
        <p:spPr>
          <a:xfrm>
            <a:off x="2148840" y="1463040"/>
            <a:ext cx="1508760" cy="91440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80" b="1">
                <a:solidFill>
                  <a:srgbClr val="26323E"/>
                </a:solidFill>
                <a:latin typeface="Aptos" panose="020B0004020202020204" pitchFamily="34" charset="0"/>
              </a:rPr>
              <a:t>Local Branch</a:t>
            </a:r>
            <a:endParaRPr lang="zh-CN" altLang="en-US" sz="10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9F80837-6FD2-E195-75E7-E20664ABABBC}"/>
              </a:ext>
            </a:extLst>
          </p:cNvPr>
          <p:cNvSpPr/>
          <p:nvPr/>
        </p:nvSpPr>
        <p:spPr>
          <a:xfrm>
            <a:off x="2148840" y="3246120"/>
            <a:ext cx="1737360" cy="91440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00" b="1">
                <a:solidFill>
                  <a:srgbClr val="26323E"/>
                </a:solidFill>
                <a:latin typeface="Aptos" panose="020B0004020202020204" pitchFamily="34" charset="0"/>
              </a:rPr>
              <a:t>Context Branch (sem_lite)</a:t>
            </a:r>
            <a:endParaRPr lang="zh-CN" altLang="en-US" sz="10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858EB88-D153-040B-FB8D-AB1D97009FB1}"/>
              </a:ext>
            </a:extLst>
          </p:cNvPr>
          <p:cNvSpPr/>
          <p:nvPr/>
        </p:nvSpPr>
        <p:spPr>
          <a:xfrm>
            <a:off x="1920240" y="4617720"/>
            <a:ext cx="960120" cy="64008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80" b="1">
                <a:solidFill>
                  <a:srgbClr val="26323E"/>
                </a:solidFill>
                <a:latin typeface="Aptos" panose="020B0004020202020204" pitchFamily="34" charset="0"/>
              </a:rPr>
              <a:t>mask_hole</a:t>
            </a:r>
            <a:endParaRPr lang="zh-CN" altLang="en-US" sz="9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A7C736-5EF5-D233-6605-A5C72AC02B8F}"/>
              </a:ext>
            </a:extLst>
          </p:cNvPr>
          <p:cNvSpPr/>
          <p:nvPr/>
        </p:nvSpPr>
        <p:spPr>
          <a:xfrm>
            <a:off x="4251960" y="4480560"/>
            <a:ext cx="1325880" cy="73152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80" b="1">
                <a:solidFill>
                  <a:srgbClr val="26323E"/>
                </a:solidFill>
                <a:latin typeface="Aptos" panose="020B0004020202020204" pitchFamily="34" charset="0"/>
              </a:rPr>
              <a:t>Boundary Band</a:t>
            </a:r>
            <a:endParaRPr lang="zh-CN" altLang="en-US" sz="98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A8F7FE2-4DC5-4BEB-2273-0C835F0A109B}"/>
              </a:ext>
            </a:extLst>
          </p:cNvPr>
          <p:cNvSpPr/>
          <p:nvPr/>
        </p:nvSpPr>
        <p:spPr>
          <a:xfrm>
            <a:off x="4617720" y="2331720"/>
            <a:ext cx="1143000" cy="96012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Mask Gate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7D11D46-D5AC-5814-2B0C-62ED4492660B}"/>
              </a:ext>
            </a:extLst>
          </p:cNvPr>
          <p:cNvSpPr/>
          <p:nvPr/>
        </p:nvSpPr>
        <p:spPr>
          <a:xfrm>
            <a:off x="6492240" y="2286000"/>
            <a:ext cx="1463040" cy="100584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Residual Fusion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FC8CDB8-A003-DCB9-9315-2FD209665B65}"/>
              </a:ext>
            </a:extLst>
          </p:cNvPr>
          <p:cNvSpPr/>
          <p:nvPr/>
        </p:nvSpPr>
        <p:spPr>
          <a:xfrm>
            <a:off x="8366760" y="2331720"/>
            <a:ext cx="1143000" cy="8686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30" b="1">
                <a:solidFill>
                  <a:srgbClr val="26323E"/>
                </a:solidFill>
                <a:latin typeface="Aptos" panose="020B0004020202020204" pitchFamily="34" charset="0"/>
              </a:rPr>
              <a:t>Enhanced Feature</a:t>
            </a:r>
            <a:endParaRPr lang="zh-CN" altLang="en-US" sz="103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00AA030-7C75-C7DC-B677-E329C7ACE2C4}"/>
              </a:ext>
            </a:extLst>
          </p:cNvPr>
          <p:cNvCxnSpPr/>
          <p:nvPr/>
        </p:nvCxnSpPr>
        <p:spPr>
          <a:xfrm flipV="1">
            <a:off x="1783080" y="1920240"/>
            <a:ext cx="365760" cy="82296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7845A82-824B-7E34-AA04-731DDC15CE85}"/>
              </a:ext>
            </a:extLst>
          </p:cNvPr>
          <p:cNvCxnSpPr/>
          <p:nvPr/>
        </p:nvCxnSpPr>
        <p:spPr>
          <a:xfrm>
            <a:off x="1783080" y="2743200"/>
            <a:ext cx="365760" cy="96012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5513CB0-226C-456B-2A69-879C9F458C99}"/>
              </a:ext>
            </a:extLst>
          </p:cNvPr>
          <p:cNvCxnSpPr/>
          <p:nvPr/>
        </p:nvCxnSpPr>
        <p:spPr>
          <a:xfrm>
            <a:off x="2880360" y="4617720"/>
            <a:ext cx="1371600" cy="22860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57CF7CE-4C24-2438-936E-45767943EB96}"/>
              </a:ext>
            </a:extLst>
          </p:cNvPr>
          <p:cNvCxnSpPr/>
          <p:nvPr/>
        </p:nvCxnSpPr>
        <p:spPr>
          <a:xfrm>
            <a:off x="3611880" y="1920240"/>
            <a:ext cx="1005840" cy="77724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994529-91F6-601B-9D70-BBCB899D8241}"/>
              </a:ext>
            </a:extLst>
          </p:cNvPr>
          <p:cNvCxnSpPr/>
          <p:nvPr/>
        </p:nvCxnSpPr>
        <p:spPr>
          <a:xfrm flipV="1">
            <a:off x="3886200" y="2880360"/>
            <a:ext cx="731520" cy="82296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7838161-4E02-897B-9FF5-7C33C8291CD7}"/>
              </a:ext>
            </a:extLst>
          </p:cNvPr>
          <p:cNvCxnSpPr/>
          <p:nvPr/>
        </p:nvCxnSpPr>
        <p:spPr>
          <a:xfrm flipV="1">
            <a:off x="4892040" y="3291840"/>
            <a:ext cx="228600" cy="118872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45F0DE7-BA3E-4EC7-DD53-0205725B1704}"/>
              </a:ext>
            </a:extLst>
          </p:cNvPr>
          <p:cNvCxnSpPr/>
          <p:nvPr/>
        </p:nvCxnSpPr>
        <p:spPr>
          <a:xfrm>
            <a:off x="5760720" y="2788920"/>
            <a:ext cx="73152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5BFE88C-8FA3-DD92-AAFE-A7A4B6750F1F}"/>
              </a:ext>
            </a:extLst>
          </p:cNvPr>
          <p:cNvCxnSpPr/>
          <p:nvPr/>
        </p:nvCxnSpPr>
        <p:spPr>
          <a:xfrm>
            <a:off x="7955280" y="2788920"/>
            <a:ext cx="41148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4EAD0F0-9B18-C86E-15C3-B0326987A8FB}"/>
              </a:ext>
            </a:extLst>
          </p:cNvPr>
          <p:cNvSpPr/>
          <p:nvPr/>
        </p:nvSpPr>
        <p:spPr>
          <a:xfrm>
            <a:off x="9829800" y="1508760"/>
            <a:ext cx="1645920" cy="25603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branch_mode: local / context / both</a:t>
            </a:r>
          </a:p>
          <a:p>
            <a:endParaRPr lang="en-US" altLang="zh-CN" sz="98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supports sem_lite backend</a:t>
            </a:r>
          </a:p>
          <a:p>
            <a:endParaRPr lang="en-US" altLang="zh-CN" sz="98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used at bottleneck and decoder</a:t>
            </a:r>
          </a:p>
          <a:p>
            <a:endParaRPr lang="en-US" altLang="zh-CN" sz="98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mask gate uses hole region and boundary cues</a:t>
            </a:r>
            <a:endParaRPr lang="zh-CN" altLang="en-US" sz="9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31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802E94-7D2E-E534-9BA5-C4C2DC18570E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Mu Cleaner Before SDE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E55C9B-7246-DE8B-79DC-6E30BBBEC915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Fig.17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34960E-F012-A3BD-6DAC-620F577C77CB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D21BF31-67C2-0BA6-318A-EBB39598088B}"/>
              </a:ext>
            </a:extLst>
          </p:cNvPr>
          <p:cNvSpPr/>
          <p:nvPr/>
        </p:nvSpPr>
        <p:spPr>
          <a:xfrm>
            <a:off x="960120" y="2240280"/>
            <a:ext cx="1463040" cy="100584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70" b="1">
                <a:solidFill>
                  <a:srgbClr val="26323E"/>
                </a:solidFill>
                <a:latin typeface="Aptos" panose="020B0004020202020204" pitchFamily="34" charset="0"/>
              </a:rPr>
              <a:t>Degraded RGB + mask_known + confidence</a:t>
            </a:r>
            <a:endParaRPr lang="zh-CN" altLang="en-US" sz="97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1949CA9-18C2-83D4-CF0E-946F53427547}"/>
              </a:ext>
            </a:extLst>
          </p:cNvPr>
          <p:cNvSpPr/>
          <p:nvPr/>
        </p:nvSpPr>
        <p:spPr>
          <a:xfrm>
            <a:off x="2880360" y="2240280"/>
            <a:ext cx="1737360" cy="100584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Blind-Spot Corruption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E784831-D72A-D720-A13E-59EA84112DA9}"/>
              </a:ext>
            </a:extLst>
          </p:cNvPr>
          <p:cNvSpPr/>
          <p:nvPr/>
        </p:nvSpPr>
        <p:spPr>
          <a:xfrm>
            <a:off x="5166360" y="2103120"/>
            <a:ext cx="1920240" cy="128016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200" b="1">
                <a:solidFill>
                  <a:srgbClr val="26323E"/>
                </a:solidFill>
                <a:latin typeface="Aptos" panose="020B0004020202020204" pitchFamily="34" charset="0"/>
              </a:rPr>
              <a:t>Mu Cleaner</a:t>
            </a:r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E3261F4-ECC6-ED08-3117-8873BFDD9254}"/>
              </a:ext>
            </a:extLst>
          </p:cNvPr>
          <p:cNvSpPr/>
          <p:nvPr/>
        </p:nvSpPr>
        <p:spPr>
          <a:xfrm>
            <a:off x="7635240" y="2240280"/>
            <a:ext cx="1234440" cy="1005840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mu_clean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A71FDAB-7BA5-819B-D4A7-46056DA6ECF6}"/>
              </a:ext>
            </a:extLst>
          </p:cNvPr>
          <p:cNvCxnSpPr/>
          <p:nvPr/>
        </p:nvCxnSpPr>
        <p:spPr>
          <a:xfrm>
            <a:off x="2423160" y="2743200"/>
            <a:ext cx="457200" cy="0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19890EF-D593-2044-049D-A50595A8A3E3}"/>
              </a:ext>
            </a:extLst>
          </p:cNvPr>
          <p:cNvCxnSpPr/>
          <p:nvPr/>
        </p:nvCxnSpPr>
        <p:spPr>
          <a:xfrm>
            <a:off x="4617720" y="2743200"/>
            <a:ext cx="54864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D0B9BC9-48E0-7D74-D683-0DE518FFB531}"/>
              </a:ext>
            </a:extLst>
          </p:cNvPr>
          <p:cNvCxnSpPr/>
          <p:nvPr/>
        </p:nvCxnSpPr>
        <p:spPr>
          <a:xfrm>
            <a:off x="7086600" y="2743200"/>
            <a:ext cx="54864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0D4450B-E254-F132-56F0-742EAB77EE94}"/>
              </a:ext>
            </a:extLst>
          </p:cNvPr>
          <p:cNvSpPr/>
          <p:nvPr/>
        </p:nvSpPr>
        <p:spPr>
          <a:xfrm>
            <a:off x="9235440" y="1783080"/>
            <a:ext cx="1920240" cy="192024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Inputs: degraded RGB, mask_known, confidence</a:t>
            </a:r>
          </a:p>
          <a:p>
            <a:endParaRPr lang="en-US" altLang="zh-CN" sz="98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Self-supervised blind-spot training</a:t>
            </a:r>
          </a:p>
          <a:p>
            <a:endParaRPr lang="en-US" altLang="zh-CN" sz="98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Only known region is preserved</a:t>
            </a:r>
          </a:p>
          <a:p>
            <a:endParaRPr lang="en-US" altLang="zh-CN" sz="980">
              <a:solidFill>
                <a:srgbClr val="26323E"/>
              </a:solidFill>
              <a:latin typeface="Aptos" panose="020B0004020202020204" pitchFamily="34" charset="0"/>
            </a:endParaRPr>
          </a:p>
          <a:p>
            <a:r>
              <a:rPr lang="en-US" altLang="zh-CN" sz="980">
                <a:solidFill>
                  <a:srgbClr val="26323E"/>
                </a:solidFill>
                <a:latin typeface="Aptos" panose="020B0004020202020204" pitchFamily="34" charset="0"/>
              </a:rPr>
              <a:t>Applied before state generation / reverse SDE</a:t>
            </a:r>
            <a:endParaRPr lang="zh-CN" altLang="en-US" sz="9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85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AACB46-B51A-29E8-0B99-0831DC4B339B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Official-Compatible Enhanced Reverse SDE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BF55A6-BD17-1779-E029-C7FB18CEB27F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Fig.18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194F6F-7786-F0EA-3E4D-021EBA44D4AD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B9FDFED-9523-2AE8-0F54-F455D30A44B0}"/>
              </a:ext>
            </a:extLst>
          </p:cNvPr>
          <p:cNvSpPr/>
          <p:nvPr/>
        </p:nvSpPr>
        <p:spPr>
          <a:xfrm>
            <a:off x="685800" y="2057400"/>
            <a:ext cx="1874520" cy="10972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Official reverse_sde(...) Entry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8ACF45A-93EF-B021-CC15-BD960052C6A1}"/>
              </a:ext>
            </a:extLst>
          </p:cNvPr>
          <p:cNvSpPr/>
          <p:nvPr/>
        </p:nvSpPr>
        <p:spPr>
          <a:xfrm>
            <a:off x="3017520" y="1920240"/>
            <a:ext cx="2103120" cy="137160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20" b="1">
                <a:solidFill>
                  <a:srgbClr val="26323E"/>
                </a:solidFill>
                <a:latin typeface="Aptos" panose="020B0004020202020204" pitchFamily="34" charset="0"/>
              </a:rPr>
              <a:t>Conditioned Score Estimation</a:t>
            </a:r>
            <a:endParaRPr lang="zh-CN" altLang="en-US" sz="112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2908AC0-53D2-AD1D-C243-EBFB58CB7F12}"/>
              </a:ext>
            </a:extLst>
          </p:cNvPr>
          <p:cNvSpPr/>
          <p:nvPr/>
        </p:nvSpPr>
        <p:spPr>
          <a:xfrm>
            <a:off x="5623560" y="2103120"/>
            <a:ext cx="1143000" cy="100584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100" b="1">
                <a:solidFill>
                  <a:srgbClr val="26323E"/>
                </a:solidFill>
                <a:latin typeface="Aptos" panose="020B0004020202020204" pitchFamily="34" charset="0"/>
              </a:rPr>
              <a:t>pred_full</a:t>
            </a:r>
            <a:endParaRPr lang="zh-CN" altLang="en-US" sz="11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FE791A8-63D4-A349-4340-12A8F4CB5869}"/>
              </a:ext>
            </a:extLst>
          </p:cNvPr>
          <p:cNvSpPr/>
          <p:nvPr/>
        </p:nvSpPr>
        <p:spPr>
          <a:xfrm>
            <a:off x="7269480" y="1965960"/>
            <a:ext cx="1691640" cy="128016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48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1050" b="1">
                <a:solidFill>
                  <a:srgbClr val="26323E"/>
                </a:solidFill>
                <a:latin typeface="Aptos" panose="020B0004020202020204" pitchFamily="34" charset="0"/>
              </a:rPr>
              <a:t>partial / full Composition</a:t>
            </a:r>
            <a:endParaRPr lang="zh-CN" altLang="en-US" sz="10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B100FB-645D-5585-E233-C28FD24381A4}"/>
              </a:ext>
            </a:extLst>
          </p:cNvPr>
          <p:cNvSpPr/>
          <p:nvPr/>
        </p:nvSpPr>
        <p:spPr>
          <a:xfrm>
            <a:off x="9509760" y="2011680"/>
            <a:ext cx="1417320" cy="114300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BFC5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30">
                <a:solidFill>
                  <a:srgbClr val="26323E"/>
                </a:solidFill>
                <a:latin typeface="Aptos" panose="020B0004020202020204" pitchFamily="34" charset="0"/>
              </a:rPr>
              <a:t>Final Output Placeholder</a:t>
            </a:r>
            <a:endParaRPr lang="zh-CN" altLang="en-US" sz="93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A964484-2D3D-ADBC-2D23-56DEA3DDD1E7}"/>
              </a:ext>
            </a:extLst>
          </p:cNvPr>
          <p:cNvSpPr/>
          <p:nvPr/>
        </p:nvSpPr>
        <p:spPr>
          <a:xfrm>
            <a:off x="2880360" y="868680"/>
            <a:ext cx="1097280" cy="658368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 b="1">
                <a:solidFill>
                  <a:srgbClr val="26323E"/>
                </a:solidFill>
                <a:latin typeface="Aptos" panose="020B0004020202020204" pitchFamily="34" charset="0"/>
              </a:rPr>
              <a:t>Color Prior</a:t>
            </a:r>
            <a:endParaRPr lang="zh-CN" altLang="en-US" sz="9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1F43E73-8CD0-D5CE-A26C-1EA3C93069CC}"/>
              </a:ext>
            </a:extLst>
          </p:cNvPr>
          <p:cNvSpPr/>
          <p:nvPr/>
        </p:nvSpPr>
        <p:spPr>
          <a:xfrm>
            <a:off x="4160520" y="868680"/>
            <a:ext cx="1097280" cy="658368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 b="1">
                <a:solidFill>
                  <a:srgbClr val="26323E"/>
                </a:solidFill>
                <a:latin typeface="Aptos" panose="020B0004020202020204" pitchFamily="34" charset="0"/>
              </a:rPr>
              <a:t>Confidence</a:t>
            </a:r>
            <a:endParaRPr lang="zh-CN" altLang="en-US" sz="9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86DEEBB-5B90-3E64-7C13-EF9099237803}"/>
              </a:ext>
            </a:extLst>
          </p:cNvPr>
          <p:cNvSpPr/>
          <p:nvPr/>
        </p:nvSpPr>
        <p:spPr>
          <a:xfrm>
            <a:off x="5440680" y="868680"/>
            <a:ext cx="1097280" cy="658368"/>
          </a:xfrm>
          <a:prstGeom prst="roundRect">
            <a:avLst/>
          </a:prstGeom>
          <a:solidFill>
            <a:srgbClr val="EDF8EF"/>
          </a:solidFill>
          <a:ln w="19050">
            <a:solidFill>
              <a:srgbClr val="63A6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50" b="1">
                <a:solidFill>
                  <a:srgbClr val="26323E"/>
                </a:solidFill>
                <a:latin typeface="Aptos" panose="020B0004020202020204" pitchFamily="34" charset="0"/>
              </a:rPr>
              <a:t>mask_hole</a:t>
            </a:r>
            <a:endParaRPr lang="zh-CN" altLang="en-US" sz="95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99E80D6-71B0-C50B-242D-A6374FE925F1}"/>
              </a:ext>
            </a:extLst>
          </p:cNvPr>
          <p:cNvSpPr/>
          <p:nvPr/>
        </p:nvSpPr>
        <p:spPr>
          <a:xfrm>
            <a:off x="6903720" y="777240"/>
            <a:ext cx="1783080" cy="804672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20">
                <a:solidFill>
                  <a:srgbClr val="26323E"/>
                </a:solidFill>
                <a:latin typeface="Aptos" panose="020B0004020202020204" pitchFamily="34" charset="0"/>
              </a:rPr>
              <a:t>Optional Structure Guidance</a:t>
            </a:r>
            <a:endParaRPr lang="zh-CN" altLang="en-US" sz="92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A7D148-D852-821E-1023-7AAA72AB24DA}"/>
              </a:ext>
            </a:extLst>
          </p:cNvPr>
          <p:cNvSpPr/>
          <p:nvPr/>
        </p:nvSpPr>
        <p:spPr>
          <a:xfrm>
            <a:off x="8961120" y="777240"/>
            <a:ext cx="1874519" cy="804672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altLang="zh-CN" sz="900">
                <a:solidFill>
                  <a:srgbClr val="26323E"/>
                </a:solidFill>
                <a:latin typeface="Aptos" panose="020B0004020202020204" pitchFamily="34" charset="0"/>
              </a:rPr>
              <a:t>Optional Discriminator Guidance</a:t>
            </a:r>
            <a:endParaRPr lang="zh-CN" altLang="en-US" sz="9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7CF4B0-9A9D-1A8C-1780-FE7A795CC3BE}"/>
              </a:ext>
            </a:extLst>
          </p:cNvPr>
          <p:cNvCxnSpPr/>
          <p:nvPr/>
        </p:nvCxnSpPr>
        <p:spPr>
          <a:xfrm>
            <a:off x="2560320" y="2606040"/>
            <a:ext cx="45720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116BAB7-D27E-A985-41FD-5FB7A497A9F3}"/>
              </a:ext>
            </a:extLst>
          </p:cNvPr>
          <p:cNvCxnSpPr/>
          <p:nvPr/>
        </p:nvCxnSpPr>
        <p:spPr>
          <a:xfrm>
            <a:off x="3657600" y="1527048"/>
            <a:ext cx="0" cy="393192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75A4D99-D8BE-0DA1-10B7-D20EFC71F633}"/>
              </a:ext>
            </a:extLst>
          </p:cNvPr>
          <p:cNvCxnSpPr/>
          <p:nvPr/>
        </p:nvCxnSpPr>
        <p:spPr>
          <a:xfrm flipH="1">
            <a:off x="4389120" y="1527048"/>
            <a:ext cx="365760" cy="393192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A8AE1EB-B756-5DD2-18C4-2CA3DE9E5075}"/>
              </a:ext>
            </a:extLst>
          </p:cNvPr>
          <p:cNvCxnSpPr/>
          <p:nvPr/>
        </p:nvCxnSpPr>
        <p:spPr>
          <a:xfrm flipH="1">
            <a:off x="4846320" y="1527048"/>
            <a:ext cx="1188720" cy="393192"/>
          </a:xfrm>
          <a:prstGeom prst="straightConnector1">
            <a:avLst/>
          </a:prstGeom>
          <a:ln w="22860">
            <a:solidFill>
              <a:srgbClr val="63A6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6204B82-EAE2-05A9-133A-9622536B3E00}"/>
              </a:ext>
            </a:extLst>
          </p:cNvPr>
          <p:cNvCxnSpPr/>
          <p:nvPr/>
        </p:nvCxnSpPr>
        <p:spPr>
          <a:xfrm flipH="1">
            <a:off x="4754880" y="1581912"/>
            <a:ext cx="3017520" cy="292608"/>
          </a:xfrm>
          <a:prstGeom prst="straightConnector1">
            <a:avLst/>
          </a:prstGeom>
          <a:ln w="22860">
            <a:solidFill>
              <a:srgbClr val="A5ABB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80138EC-67B3-FAD9-7A92-F2DF1A1C1AB7}"/>
              </a:ext>
            </a:extLst>
          </p:cNvPr>
          <p:cNvCxnSpPr/>
          <p:nvPr/>
        </p:nvCxnSpPr>
        <p:spPr>
          <a:xfrm flipH="1">
            <a:off x="4983480" y="1581912"/>
            <a:ext cx="4892040" cy="475488"/>
          </a:xfrm>
          <a:prstGeom prst="straightConnector1">
            <a:avLst/>
          </a:prstGeom>
          <a:ln w="22860">
            <a:solidFill>
              <a:srgbClr val="A5ABB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212006A-8BBD-7269-4034-27C88062D837}"/>
              </a:ext>
            </a:extLst>
          </p:cNvPr>
          <p:cNvCxnSpPr/>
          <p:nvPr/>
        </p:nvCxnSpPr>
        <p:spPr>
          <a:xfrm>
            <a:off x="5120640" y="2606040"/>
            <a:ext cx="50292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63B80AF-1A23-10D5-CFA2-8167F2D12FD2}"/>
              </a:ext>
            </a:extLst>
          </p:cNvPr>
          <p:cNvCxnSpPr/>
          <p:nvPr/>
        </p:nvCxnSpPr>
        <p:spPr>
          <a:xfrm>
            <a:off x="6766560" y="2606040"/>
            <a:ext cx="502920" cy="0"/>
          </a:xfrm>
          <a:prstGeom prst="straightConnector1">
            <a:avLst/>
          </a:prstGeom>
          <a:ln w="22860">
            <a:solidFill>
              <a:srgbClr val="E487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85BFD87-8E56-3B2C-0B9B-EDAC1BBADB97}"/>
              </a:ext>
            </a:extLst>
          </p:cNvPr>
          <p:cNvCxnSpPr/>
          <p:nvPr/>
        </p:nvCxnSpPr>
        <p:spPr>
          <a:xfrm>
            <a:off x="8961120" y="2606040"/>
            <a:ext cx="548640" cy="0"/>
          </a:xfrm>
          <a:prstGeom prst="straightConnector1">
            <a:avLst/>
          </a:prstGeom>
          <a:ln w="22860">
            <a:solidFill>
              <a:srgbClr val="6F81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E7E7253-A84C-B5D0-3000-FC0FCAA86F02}"/>
              </a:ext>
            </a:extLst>
          </p:cNvPr>
          <p:cNvSpPr/>
          <p:nvPr/>
        </p:nvSpPr>
        <p:spPr>
          <a:xfrm>
            <a:off x="713232" y="4846320"/>
            <a:ext cx="10881360" cy="7315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00">
                <a:solidFill>
                  <a:srgbClr val="26323E"/>
                </a:solidFill>
                <a:latin typeface="Aptos" panose="020B0004020202020204" pitchFamily="34" charset="0"/>
              </a:rPr>
              <a:t>partial mode: known input + predicted hole    |    full mode: direct full prediction    |    compatibility preserved via official entry</a:t>
            </a:r>
            <a:endParaRPr lang="zh-CN" altLang="en-US" sz="10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34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580F24-13D6-18A8-64E5-A3F79DD3BCF5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Stage-II Training and Inference Semantics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0949EF-8B24-9831-6EA7-69EAAD3DC1F8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Fig.19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D44C40-0662-348A-28AD-5F8CC94B87DE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3227CE9-54BA-8EB6-CB54-A7DE332B5C93}"/>
              </a:ext>
            </a:extLst>
          </p:cNvPr>
          <p:cNvSpPr/>
          <p:nvPr/>
        </p:nvSpPr>
        <p:spPr>
          <a:xfrm>
            <a:off x="685800" y="1005840"/>
            <a:ext cx="5212080" cy="452628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A9DCC6-F276-BE66-1C85-F90BCB6AFB4D}"/>
              </a:ext>
            </a:extLst>
          </p:cNvPr>
          <p:cNvSpPr txBox="1"/>
          <p:nvPr/>
        </p:nvSpPr>
        <p:spPr>
          <a:xfrm>
            <a:off x="850392" y="1078992"/>
            <a:ext cx="493776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(A) Training Semantics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FB79941-E40F-95E3-CAF2-54A4B99CD678}"/>
              </a:ext>
            </a:extLst>
          </p:cNvPr>
          <p:cNvSpPr/>
          <p:nvPr/>
        </p:nvSpPr>
        <p:spPr>
          <a:xfrm>
            <a:off x="6309360" y="1005840"/>
            <a:ext cx="5212079" cy="452628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F0A83D-F9DA-4E97-BF7E-CE43E1D45FBD}"/>
              </a:ext>
            </a:extLst>
          </p:cNvPr>
          <p:cNvSpPr txBox="1"/>
          <p:nvPr/>
        </p:nvSpPr>
        <p:spPr>
          <a:xfrm>
            <a:off x="6473952" y="1078992"/>
            <a:ext cx="493776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(B) Inference Semantics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7F4199-A4B1-E476-9CED-CF3AD6FAD900}"/>
              </a:ext>
            </a:extLst>
          </p:cNvPr>
          <p:cNvSpPr txBox="1"/>
          <p:nvPr/>
        </p:nvSpPr>
        <p:spPr>
          <a:xfrm>
            <a:off x="960120" y="1600200"/>
            <a:ext cx="4617720" cy="1089529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dataset mask semantics: 1 = hole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mask_for_sde = 1 - mask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color prior and confidence are prepared before the main generator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mu_clean is computed before random state generation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gt_mode supports full / partial / mixed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mu_denoiser.* is saved with the main checkpoint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83C0B2-38B4-224C-3EC3-7819A59282CF}"/>
              </a:ext>
            </a:extLst>
          </p:cNvPr>
          <p:cNvSpPr txBox="1"/>
          <p:nvPr/>
        </p:nvSpPr>
        <p:spPr>
          <a:xfrm>
            <a:off x="6583680" y="1600200"/>
            <a:ext cx="4617720" cy="1089529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mask_known and mask_hole are explicit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prior/confidence can be auto-generated at test time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known-region prior is synced with latest LUT mapping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mu_clean is applied only on known region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partial/full composition is selected at output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intermediate exports support debugging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B72B59-028F-16CE-6134-7BA435E8AD34}"/>
              </a:ext>
            </a:extLst>
          </p:cNvPr>
          <p:cNvSpPr/>
          <p:nvPr/>
        </p:nvSpPr>
        <p:spPr>
          <a:xfrm>
            <a:off x="822960" y="5623560"/>
            <a:ext cx="10835640" cy="438912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A5AB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r>
              <a:rPr lang="en-US" altLang="zh-CN" sz="1000">
                <a:solidFill>
                  <a:srgbClr val="26323E"/>
                </a:solidFill>
                <a:latin typeface="Aptos" panose="020B0004020202020204" pitchFamily="34" charset="0"/>
              </a:rPr>
              <a:t>Shared semantics: BrushNet and MGLC consume mask_hole; Mu Cleaner and known-region preservation consume mask_known.</a:t>
            </a:r>
            <a:endParaRPr lang="zh-CN" altLang="en-US" sz="100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509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8C0482-658E-40C5-ED90-891F6BEF3ADD}"/>
              </a:ext>
            </a:extLst>
          </p:cNvPr>
          <p:cNvSpPr txBox="1"/>
          <p:nvPr/>
        </p:nvSpPr>
        <p:spPr>
          <a:xfrm>
            <a:off x="502920" y="164592"/>
            <a:ext cx="8595360" cy="461665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2400" b="1">
                <a:solidFill>
                  <a:srgbClr val="26323E"/>
                </a:solidFill>
                <a:latin typeface="Aptos" panose="020B0004020202020204" pitchFamily="34" charset="0"/>
              </a:rPr>
              <a:t>Selection Guide for Paper, Supplementary, and Defense Use</a:t>
            </a:r>
            <a:endParaRPr lang="zh-CN" altLang="en-US" sz="2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6EAF37-FB4A-0568-F194-3B95E36BAAEE}"/>
              </a:ext>
            </a:extLst>
          </p:cNvPr>
          <p:cNvSpPr txBox="1"/>
          <p:nvPr/>
        </p:nvSpPr>
        <p:spPr>
          <a:xfrm>
            <a:off x="10378440" y="182880"/>
            <a:ext cx="1234440" cy="238527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pPr algn="r"/>
            <a:r>
              <a:rPr lang="en-US" altLang="zh-CN" sz="1050" b="1">
                <a:solidFill>
                  <a:srgbClr val="55606B"/>
                </a:solidFill>
                <a:latin typeface="Aptos" panose="020B0004020202020204" pitchFamily="34" charset="0"/>
              </a:rPr>
              <a:t>Fig.22</a:t>
            </a:r>
            <a:endParaRPr lang="zh-CN" altLang="en-US" sz="1050" b="1">
              <a:solidFill>
                <a:srgbClr val="55606B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35AB08-A4E9-2487-7063-FAEFE34C8A19}"/>
              </a:ext>
            </a:extLst>
          </p:cNvPr>
          <p:cNvSpPr/>
          <p:nvPr/>
        </p:nvSpPr>
        <p:spPr>
          <a:xfrm>
            <a:off x="502920" y="512064"/>
            <a:ext cx="11109960" cy="27432"/>
          </a:xfrm>
          <a:prstGeom prst="rect">
            <a:avLst/>
          </a:prstGeom>
          <a:solidFill>
            <a:srgbClr val="6F81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64E8AF-AAA4-CC1F-E7A1-E8A41AD76775}"/>
              </a:ext>
            </a:extLst>
          </p:cNvPr>
          <p:cNvSpPr/>
          <p:nvPr/>
        </p:nvSpPr>
        <p:spPr>
          <a:xfrm>
            <a:off x="685800" y="1097280"/>
            <a:ext cx="3337560" cy="438912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249274-A178-14F7-85C3-CB9E5EC276BB}"/>
              </a:ext>
            </a:extLst>
          </p:cNvPr>
          <p:cNvSpPr txBox="1"/>
          <p:nvPr/>
        </p:nvSpPr>
        <p:spPr>
          <a:xfrm>
            <a:off x="850392" y="1170432"/>
            <a:ext cx="306324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Main Paper Figures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5FCB96-AFA1-E093-D717-34FD9CB235D9}"/>
              </a:ext>
            </a:extLst>
          </p:cNvPr>
          <p:cNvSpPr/>
          <p:nvPr/>
        </p:nvSpPr>
        <p:spPr>
          <a:xfrm>
            <a:off x="4434840" y="1097280"/>
            <a:ext cx="3337560" cy="438912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547F6F-C65B-640B-6044-19A3CBEB98EB}"/>
              </a:ext>
            </a:extLst>
          </p:cNvPr>
          <p:cNvSpPr txBox="1"/>
          <p:nvPr/>
        </p:nvSpPr>
        <p:spPr>
          <a:xfrm>
            <a:off x="4599432" y="1170432"/>
            <a:ext cx="306324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Supplementary Figures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663B037-F596-9543-A0BC-90483980953D}"/>
              </a:ext>
            </a:extLst>
          </p:cNvPr>
          <p:cNvSpPr/>
          <p:nvPr/>
        </p:nvSpPr>
        <p:spPr>
          <a:xfrm>
            <a:off x="8183880" y="1097280"/>
            <a:ext cx="3337560" cy="438912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F8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lang="zh-CN" altLang="en-US" sz="12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660455-D798-3DE1-6E24-BD6075C8D610}"/>
              </a:ext>
            </a:extLst>
          </p:cNvPr>
          <p:cNvSpPr txBox="1"/>
          <p:nvPr/>
        </p:nvSpPr>
        <p:spPr>
          <a:xfrm>
            <a:off x="8348472" y="1170432"/>
            <a:ext cx="306324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400" b="1">
                <a:solidFill>
                  <a:srgbClr val="26323E"/>
                </a:solidFill>
                <a:latin typeface="Aptos" panose="020B0004020202020204" pitchFamily="34" charset="0"/>
              </a:rPr>
              <a:t>Defense Figures</a:t>
            </a:r>
            <a:endParaRPr lang="zh-CN" altLang="en-US" sz="1400" b="1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BFAD52-CA5D-38C7-903F-FBCE3FD8C49C}"/>
              </a:ext>
            </a:extLst>
          </p:cNvPr>
          <p:cNvSpPr txBox="1"/>
          <p:nvPr/>
        </p:nvSpPr>
        <p:spPr>
          <a:xfrm>
            <a:off x="960120" y="1737360"/>
            <a:ext cx="2788920" cy="923330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 Overall Two-Stage Framework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Fig.6 RGB-Only Spectral Bridge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Fig.12 Enhanced Stage-II Overview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Fig.14 Pixel Condition Encoder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Fig.18 Enhanced Reverse SDE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9BCEE5-3ED6-EAA3-DD9D-000C698AB00F}"/>
              </a:ext>
            </a:extLst>
          </p:cNvPr>
          <p:cNvSpPr txBox="1"/>
          <p:nvPr/>
        </p:nvSpPr>
        <p:spPr>
          <a:xfrm>
            <a:off x="4709160" y="1737360"/>
            <a:ext cx="2788920" cy="923330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Fig.2 Dual-Baseline Map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Fig.10 LUT Construction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Fig.13 LUT Prior Composer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Fig.16 MGLC Anatomy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Fig.19 Train vs Inference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7C1AA9-08D6-B6B5-D7D2-574157E8EDA1}"/>
              </a:ext>
            </a:extLst>
          </p:cNvPr>
          <p:cNvSpPr txBox="1"/>
          <p:nvPr/>
        </p:nvSpPr>
        <p:spPr>
          <a:xfrm>
            <a:off x="8458200" y="1737360"/>
            <a:ext cx="2788920" cy="1089529"/>
          </a:xfrm>
          <a:prstGeom prst="rect">
            <a:avLst/>
          </a:prstGeom>
          <a:noFill/>
        </p:spPr>
        <p:txBody>
          <a:bodyPr vert="horz" wrap="square" lIns="50800" tIns="38100" rIns="50800" bIns="38100" rtlCol="0">
            <a:spAutoFit/>
          </a:bodyPr>
          <a:lstStyle/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 Overall Pipeline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Fig.2 Baseline Comparison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Fig.6 RGB Bridge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Fig.12 Stage-II Overview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Fig.16 MGLC</a:t>
            </a:r>
          </a:p>
          <a:p>
            <a:r>
              <a:rPr lang="en-US" altLang="zh-CN" sz="1080">
                <a:solidFill>
                  <a:srgbClr val="26323E"/>
                </a:solidFill>
                <a:latin typeface="Aptos" panose="020B0004020202020204" pitchFamily="34" charset="0"/>
              </a:rPr>
              <a:t>- Fig.18 Reverse SDE</a:t>
            </a:r>
            <a:endParaRPr lang="zh-CN" altLang="en-US" sz="1080">
              <a:solidFill>
                <a:srgbClr val="2632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1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自定义</PresentationFormat>
  <Paragraphs>206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文盛 王</dc:creator>
  <cp:lastModifiedBy>文盛 王</cp:lastModifiedBy>
  <cp:revision>1</cp:revision>
  <dcterms:created xsi:type="dcterms:W3CDTF">2026-03-18T06:39:06Z</dcterms:created>
  <dcterms:modified xsi:type="dcterms:W3CDTF">2026-03-18T06:39:06Z</dcterms:modified>
</cp:coreProperties>
</file>